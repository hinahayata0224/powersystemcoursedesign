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64" r:id="rId4"/>
  </p:sldMasterIdLst>
  <p:notesMasterIdLst>
    <p:notesMasterId r:id="rId6"/>
  </p:notesMasterIdLst>
  <p:sldIdLst>
    <p:sldId id="256" r:id="rId5"/>
    <p:sldId id="260" r:id="rId7"/>
    <p:sldId id="304" r:id="rId8"/>
    <p:sldId id="305" r:id="rId9"/>
    <p:sldId id="261" r:id="rId10"/>
    <p:sldId id="306" r:id="rId11"/>
    <p:sldId id="262" r:id="rId12"/>
    <p:sldId id="307" r:id="rId13"/>
    <p:sldId id="308" r:id="rId14"/>
    <p:sldId id="309" r:id="rId15"/>
    <p:sldId id="263" r:id="rId16"/>
    <p:sldId id="310" r:id="rId17"/>
    <p:sldId id="264" r:id="rId18"/>
    <p:sldId id="311" r:id="rId19"/>
    <p:sldId id="317" r:id="rId20"/>
    <p:sldId id="318" r:id="rId21"/>
    <p:sldId id="312" r:id="rId22"/>
    <p:sldId id="313" r:id="rId23"/>
    <p:sldId id="314" r:id="rId24"/>
    <p:sldId id="316" r:id="rId25"/>
    <p:sldId id="303"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DBE5"/>
    <a:srgbClr val="CDD9EB"/>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69" autoAdjust="0"/>
    <p:restoredTop sz="96387" autoAdjust="0"/>
  </p:normalViewPr>
  <p:slideViewPr>
    <p:cSldViewPr snapToGrid="0">
      <p:cViewPr>
        <p:scale>
          <a:sx n="100" d="100"/>
          <a:sy n="100" d="100"/>
        </p:scale>
        <p:origin x="960" y="4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9AB4DB-E120-4E00-8452-D2180E67873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E95CC4-911C-4E22-8D83-A460B5F58E6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AE128B7-C4C8-47C0-89EB-F248CB28996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AE128B7-C4C8-47C0-89EB-F248CB28996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AE128B7-C4C8-47C0-89EB-F248CB28996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AE128B7-C4C8-47C0-89EB-F248CB28996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AE128B7-C4C8-47C0-89EB-F248CB28996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AE128B7-C4C8-47C0-89EB-F248CB28996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4D113786-10FE-4148-AE71-44C54185081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C39182-3654-4140-8B57-1A471E3E4C5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D113786-10FE-4148-AE71-44C54185081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C39182-3654-4140-8B57-1A471E3E4C5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4D113786-10FE-4148-AE71-44C54185081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C39182-3654-4140-8B57-1A471E3E4C5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4D113786-10FE-4148-AE71-44C54185081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C39182-3654-4140-8B57-1A471E3E4C5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4D113786-10FE-4148-AE71-44C54185081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5C39182-3654-4140-8B57-1A471E3E4C5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4D113786-10FE-4148-AE71-44C54185081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5C39182-3654-4140-8B57-1A471E3E4C5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D113786-10FE-4148-AE71-44C54185081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5C39182-3654-4140-8B57-1A471E3E4C5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4D113786-10FE-4148-AE71-44C54185081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C39182-3654-4140-8B57-1A471E3E4C5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4D113786-10FE-4148-AE71-44C54185081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C39182-3654-4140-8B57-1A471E3E4C5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D113786-10FE-4148-AE71-44C54185081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C39182-3654-4140-8B57-1A471E3E4C5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D113786-10FE-4148-AE71-44C54185081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C39182-3654-4140-8B57-1A471E3E4C5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
          <p:cNvSpPr/>
          <p:nvPr userDrawn="1"/>
        </p:nvSpPr>
        <p:spPr>
          <a:xfrm>
            <a:off x="0" y="0"/>
            <a:ext cx="12192000" cy="971550"/>
          </a:xfrm>
          <a:prstGeom prst="rect">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pic>
        <p:nvPicPr>
          <p:cNvPr id="3" name="图片 2"/>
          <p:cNvPicPr>
            <a:picLocks noChangeAspect="1"/>
          </p:cNvPicPr>
          <p:nvPr userDrawn="1"/>
        </p:nvPicPr>
        <p:blipFill rotWithShape="1">
          <a:blip r:embed="rId2">
            <a:clrChange>
              <a:clrFrom>
                <a:srgbClr val="FEFFFF"/>
              </a:clrFrom>
              <a:clrTo>
                <a:srgbClr val="FEFFFF">
                  <a:alpha val="0"/>
                </a:srgbClr>
              </a:clrTo>
            </a:clrChange>
            <a:lum bright="70000" contrast="-70000"/>
            <a:extLst>
              <a:ext uri="{BEBA8EAE-BF5A-486C-A8C5-ECC9F3942E4B}">
                <a14:imgProps xmlns:a14="http://schemas.microsoft.com/office/drawing/2010/main">
                  <a14:imgLayer r:embed="rId3">
                    <a14:imgEffect>
                      <a14:colorTemperature colorTemp="6400"/>
                    </a14:imgEffect>
                    <a14:imgEffect>
                      <a14:saturation sat="400000"/>
                    </a14:imgEffect>
                    <a14:imgEffect>
                      <a14:sharpenSoften amount="48000"/>
                    </a14:imgEffect>
                  </a14:imgLayer>
                </a14:imgProps>
              </a:ext>
            </a:extLst>
          </a:blip>
          <a:srcRect/>
          <a:stretch>
            <a:fillRect/>
          </a:stretch>
        </p:blipFill>
        <p:spPr>
          <a:xfrm>
            <a:off x="9606851" y="76403"/>
            <a:ext cx="2345106" cy="8324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
          <p:cNvSpPr/>
          <p:nvPr userDrawn="1"/>
        </p:nvSpPr>
        <p:spPr>
          <a:xfrm>
            <a:off x="0" y="0"/>
            <a:ext cx="12192000" cy="971550"/>
          </a:xfrm>
          <a:prstGeom prst="rect">
            <a:avLst/>
          </a:prstGeom>
          <a:solidFill>
            <a:srgbClr val="0070C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pic>
        <p:nvPicPr>
          <p:cNvPr id="3" name="图片 2"/>
          <p:cNvPicPr>
            <a:picLocks noChangeAspect="1"/>
          </p:cNvPicPr>
          <p:nvPr userDrawn="1"/>
        </p:nvPicPr>
        <p:blipFill rotWithShape="1">
          <a:blip r:embed="rId2">
            <a:clrChange>
              <a:clrFrom>
                <a:srgbClr val="FEFFFF"/>
              </a:clrFrom>
              <a:clrTo>
                <a:srgbClr val="FEFFFF">
                  <a:alpha val="0"/>
                </a:srgbClr>
              </a:clrTo>
            </a:clrChange>
            <a:lum bright="70000" contrast="-70000"/>
            <a:extLst>
              <a:ext uri="{BEBA8EAE-BF5A-486C-A8C5-ECC9F3942E4B}">
                <a14:imgProps xmlns:a14="http://schemas.microsoft.com/office/drawing/2010/main">
                  <a14:imgLayer r:embed="rId3">
                    <a14:imgEffect>
                      <a14:colorTemperature colorTemp="6400"/>
                    </a14:imgEffect>
                    <a14:imgEffect>
                      <a14:saturation sat="400000"/>
                    </a14:imgEffect>
                    <a14:imgEffect>
                      <a14:sharpenSoften amount="48000"/>
                    </a14:imgEffect>
                  </a14:imgLayer>
                </a14:imgProps>
              </a:ext>
            </a:extLst>
          </a:blip>
          <a:srcRect/>
          <a:stretch>
            <a:fillRect/>
          </a:stretch>
        </p:blipFill>
        <p:spPr>
          <a:xfrm>
            <a:off x="9606851" y="76403"/>
            <a:ext cx="2345106" cy="8324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image" Target="../media/image3.jpeg"/><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5" Type="http://schemas.openxmlformats.org/officeDocument/2006/relationships/theme" Target="../theme/theme3.xml"/><Relationship Id="rId4" Type="http://schemas.openxmlformats.org/officeDocument/2006/relationships/image" Target="../media/image3.jpeg"/><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113786-10FE-4148-AE71-44C54185081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C39182-3654-4140-8B57-1A471E3E4C5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4">
            <a:alphaModFix amt="8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4">
            <a:alphaModFix amt="8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6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fld>
            <a:endParaRPr kumimoji="0" lang="zh-CN" altLang="en-US" sz="16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Lst>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6.xml"/><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6.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6.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6.xml"/><Relationship Id="rId2" Type="http://schemas.openxmlformats.org/officeDocument/2006/relationships/image" Target="../media/image18.png"/><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6.xml"/><Relationship Id="rId10" Type="http://schemas.openxmlformats.org/officeDocument/2006/relationships/slideLayout" Target="../slideLayouts/slideLayout16.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16.xml"/><Relationship Id="rId7" Type="http://schemas.openxmlformats.org/officeDocument/2006/relationships/image" Target="../media/image26.jpeg"/><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 Id="rId3" Type="http://schemas.openxmlformats.org/officeDocument/2006/relationships/image" Target="../media/image22.jpeg"/><Relationship Id="rId2" Type="http://schemas.openxmlformats.org/officeDocument/2006/relationships/tags" Target="../tags/tag11.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28.png"/><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33.png"/><Relationship Id="rId1"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35.png"/><Relationship Id="rId1" Type="http://schemas.openxmlformats.org/officeDocument/2006/relationships/image" Target="../media/image34.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20.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0" Type="http://schemas.openxmlformats.org/officeDocument/2006/relationships/notesSlide" Target="../notesSlides/notesSlide7.xml"/><Relationship Id="rId2" Type="http://schemas.openxmlformats.org/officeDocument/2006/relationships/tags" Target="../tags/tag14.xml"/><Relationship Id="rId19" Type="http://schemas.openxmlformats.org/officeDocument/2006/relationships/slideLayout" Target="../slideLayouts/slideLayout13.xml"/><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tags" Target="../tags/tag26.xml"/><Relationship Id="rId15" Type="http://schemas.openxmlformats.org/officeDocument/2006/relationships/tags" Target="../tags/tag25.xml"/><Relationship Id="rId14" Type="http://schemas.openxmlformats.org/officeDocument/2006/relationships/tags" Target="../tags/tag24.xml"/><Relationship Id="rId13" Type="http://schemas.openxmlformats.org/officeDocument/2006/relationships/tags" Target="../tags/tag23.xml"/><Relationship Id="rId12" Type="http://schemas.openxmlformats.org/officeDocument/2006/relationships/image" Target="../media/image40.emf"/><Relationship Id="rId11" Type="http://schemas.openxmlformats.org/officeDocument/2006/relationships/image" Target="../media/image39.emf"/><Relationship Id="rId10" Type="http://schemas.openxmlformats.org/officeDocument/2006/relationships/tags" Target="../tags/tag22.xml"/><Relationship Id="rId1" Type="http://schemas.openxmlformats.org/officeDocument/2006/relationships/tags" Target="../tags/tag1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2.png"/><Relationship Id="rId1" Type="http://schemas.openxmlformats.org/officeDocument/2006/relationships/image" Target="../media/image4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9" y="0"/>
            <a:ext cx="12192000" cy="6858000"/>
          </a:xfrm>
          <a:prstGeom prst="rect">
            <a:avLst/>
          </a:prstGeom>
          <a:solidFill>
            <a:srgbClr val="005DA2">
              <a:alpha val="86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5" name="矩形 4"/>
          <p:cNvSpPr/>
          <p:nvPr/>
        </p:nvSpPr>
        <p:spPr>
          <a:xfrm>
            <a:off x="893" y="1071840"/>
            <a:ext cx="12192000" cy="4884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4" name="Rectangle 4"/>
          <p:cNvSpPr txBox="1">
            <a:spLocks noChangeArrowheads="1"/>
          </p:cNvSpPr>
          <p:nvPr/>
        </p:nvSpPr>
        <p:spPr>
          <a:xfrm>
            <a:off x="2891155" y="4633595"/>
            <a:ext cx="6409690" cy="879475"/>
          </a:xfrm>
          <a:prstGeom prst="rect">
            <a:avLst/>
          </a:prstGeom>
        </p:spPr>
        <p:txBody>
          <a:bodyPr vert="horz" lIns="121920" tIns="60960" rIns="121920" bIns="60960" rtlCol="0" anchor="ctr">
            <a:normAutofit fontScale="8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ctr" defTabSz="1219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2400" b="1" i="0" u="none" strike="noStrike" kern="1200" cap="none" spc="0" normalizeH="0" baseline="0" noProof="0" smtClean="0">
                <a:ln>
                  <a:noFill/>
                </a:ln>
                <a:solidFill>
                  <a:prstClr val="black">
                    <a:lumMod val="75000"/>
                    <a:lumOff val="25000"/>
                  </a:prstClr>
                </a:solidFill>
                <a:effectLst/>
                <a:uLnTx/>
                <a:uFillTx/>
                <a:latin typeface="Times New Roman" panose="02020603050405020304" pitchFamily="18" charset="0"/>
                <a:ea typeface="微软雅黑" panose="020B0503020204020204" charset="-122"/>
                <a:cs typeface="Times New Roman" panose="02020603050405020304" pitchFamily="18" charset="0"/>
              </a:rPr>
              <a:t>林赵鑫、许啸扬</a:t>
            </a:r>
            <a:endParaRPr kumimoji="0" lang="en-US" altLang="zh-CN" sz="2400" b="1" i="0" u="none" strike="noStrike" kern="1200" cap="none" spc="0" normalizeH="0" baseline="0" noProof="0" smtClean="0">
              <a:ln>
                <a:noFill/>
              </a:ln>
              <a:solidFill>
                <a:prstClr val="black">
                  <a:lumMod val="75000"/>
                  <a:lumOff val="25000"/>
                </a:prstClr>
              </a:solidFill>
              <a:effectLst/>
              <a:uLnTx/>
              <a:uFillTx/>
              <a:latin typeface="Times New Roman" panose="02020603050405020304" pitchFamily="18" charset="0"/>
              <a:ea typeface="微软雅黑" panose="020B0503020204020204" charset="-122"/>
              <a:cs typeface="Times New Roman" panose="02020603050405020304" pitchFamily="18" charset="0"/>
            </a:endParaRPr>
          </a:p>
          <a:p>
            <a:pPr marL="0" marR="0" lvl="0" indent="0" algn="ctr" defTabSz="12192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altLang="zh-CN" sz="2400" b="1" i="0" u="none" strike="noStrike" kern="1200" cap="none" spc="0" normalizeH="0" baseline="0" noProof="0" smtClean="0">
                <a:ln>
                  <a:noFill/>
                </a:ln>
                <a:solidFill>
                  <a:prstClr val="black">
                    <a:lumMod val="75000"/>
                    <a:lumOff val="25000"/>
                  </a:prstClr>
                </a:solidFill>
                <a:effectLst/>
                <a:uLnTx/>
                <a:uFillTx/>
                <a:latin typeface="Times New Roman" panose="02020603050405020304" pitchFamily="18" charset="0"/>
                <a:ea typeface="微软雅黑" panose="020B0503020204020204" charset="-122"/>
                <a:cs typeface="Times New Roman" panose="02020603050405020304" pitchFamily="18" charset="0"/>
              </a:rPr>
              <a:t>2025.10.27</a:t>
            </a:r>
            <a:endParaRPr kumimoji="0" lang="en-US" altLang="zh-CN" sz="2400" b="1" i="0" u="none" strike="noStrike" kern="120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cxnSp>
        <p:nvCxnSpPr>
          <p:cNvPr id="46" name="直接连接符 5"/>
          <p:cNvCxnSpPr>
            <a:cxnSpLocks noChangeShapeType="1"/>
          </p:cNvCxnSpPr>
          <p:nvPr/>
        </p:nvCxnSpPr>
        <p:spPr bwMode="auto">
          <a:xfrm flipH="1">
            <a:off x="1724595" y="4011444"/>
            <a:ext cx="9025003" cy="0"/>
          </a:xfrm>
          <a:prstGeom prst="line">
            <a:avLst/>
          </a:prstGeom>
          <a:noFill/>
          <a:ln w="1270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矩形 24"/>
          <p:cNvSpPr/>
          <p:nvPr/>
        </p:nvSpPr>
        <p:spPr>
          <a:xfrm>
            <a:off x="1146813" y="2210237"/>
            <a:ext cx="9898380" cy="1751965"/>
          </a:xfrm>
          <a:prstGeom prst="rect">
            <a:avLst/>
          </a:prstGeom>
        </p:spPr>
        <p:txBody>
          <a:bodyPr wrap="none" lIns="91428" tIns="45713" rIns="91428" bIns="45713">
            <a:spAutoFit/>
          </a:bodyPr>
          <a:lstStyle/>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60" normalizeH="0" baseline="0" noProof="0" dirty="0">
                <a:ln>
                  <a:noFill/>
                </a:ln>
                <a:solidFill>
                  <a:srgbClr val="005DA2"/>
                </a:solidFill>
                <a:effectLst/>
                <a:uLnTx/>
                <a:uFillTx/>
                <a:latin typeface="方正小标宋简体" panose="03000509000000000000" pitchFamily="65" charset="-122"/>
                <a:ea typeface="方正小标宋简体" panose="03000509000000000000" pitchFamily="65" charset="-122"/>
                <a:cs typeface="+mn-cs"/>
              </a:rPr>
              <a:t>基于</a:t>
            </a:r>
            <a:r>
              <a:rPr kumimoji="0" lang="en-US" altLang="en-US" sz="5400" b="1" i="0" u="none" strike="noStrike" kern="1200" cap="none" spc="60" normalizeH="0" baseline="0" noProof="0" dirty="0">
                <a:ln>
                  <a:noFill/>
                </a:ln>
                <a:solidFill>
                  <a:srgbClr val="005DA2"/>
                </a:solidFill>
                <a:effectLst/>
                <a:uLnTx/>
                <a:uFillTx/>
                <a:latin typeface="方正小标宋简体" panose="03000509000000000000" pitchFamily="65" charset="-122"/>
                <a:ea typeface="方正小标宋简体" panose="03000509000000000000" pitchFamily="65" charset="-122"/>
                <a:cs typeface="+mn-cs"/>
              </a:rPr>
              <a:t>MATLAB</a:t>
            </a:r>
            <a:r>
              <a:rPr kumimoji="0" lang="zh-CN" altLang="en-US" sz="5400" b="1" i="0" u="none" strike="noStrike" kern="1200" cap="none" spc="60" normalizeH="0" baseline="0" noProof="0" dirty="0">
                <a:ln>
                  <a:noFill/>
                </a:ln>
                <a:solidFill>
                  <a:srgbClr val="005DA2"/>
                </a:solidFill>
                <a:effectLst/>
                <a:uLnTx/>
                <a:uFillTx/>
                <a:latin typeface="方正小标宋简体" panose="03000509000000000000" pitchFamily="65" charset="-122"/>
                <a:ea typeface="方正小标宋简体" panose="03000509000000000000" pitchFamily="65" charset="-122"/>
                <a:cs typeface="+mn-cs"/>
              </a:rPr>
              <a:t>与</a:t>
            </a:r>
            <a:r>
              <a:rPr kumimoji="0" lang="en-US" altLang="en-US" sz="5400" b="1" i="0" u="none" strike="noStrike" kern="1200" cap="none" spc="60" normalizeH="0" baseline="0" noProof="0" dirty="0">
                <a:ln>
                  <a:noFill/>
                </a:ln>
                <a:solidFill>
                  <a:srgbClr val="005DA2"/>
                </a:solidFill>
                <a:effectLst/>
                <a:uLnTx/>
                <a:uFillTx/>
                <a:latin typeface="方正小标宋简体" panose="03000509000000000000" pitchFamily="65" charset="-122"/>
                <a:ea typeface="方正小标宋简体" panose="03000509000000000000" pitchFamily="65" charset="-122"/>
                <a:cs typeface="+mn-cs"/>
              </a:rPr>
              <a:t>DSP</a:t>
            </a:r>
            <a:r>
              <a:rPr kumimoji="0" lang="zh-CN" altLang="en-US" sz="5400" b="1" i="0" u="none" strike="noStrike" kern="1200" cap="none" spc="60" normalizeH="0" baseline="0" noProof="0" dirty="0">
                <a:ln>
                  <a:noFill/>
                </a:ln>
                <a:solidFill>
                  <a:srgbClr val="005DA2"/>
                </a:solidFill>
                <a:effectLst/>
                <a:uLnTx/>
                <a:uFillTx/>
                <a:latin typeface="方正小标宋简体" panose="03000509000000000000" pitchFamily="65" charset="-122"/>
                <a:ea typeface="方正小标宋简体" panose="03000509000000000000" pitchFamily="65" charset="-122"/>
                <a:cs typeface="+mn-cs"/>
              </a:rPr>
              <a:t>的</a:t>
            </a:r>
            <a:endParaRPr kumimoji="0" lang="zh-CN" altLang="en-US" sz="5400" b="1" i="0" u="none" strike="noStrike" kern="1200" cap="none" spc="60" normalizeH="0" baseline="0" noProof="0" dirty="0">
              <a:ln>
                <a:noFill/>
              </a:ln>
              <a:solidFill>
                <a:srgbClr val="005DA2"/>
              </a:solidFill>
              <a:effectLst/>
              <a:uLnTx/>
              <a:uFillTx/>
              <a:latin typeface="方正小标宋简体" panose="03000509000000000000" pitchFamily="65" charset="-122"/>
              <a:ea typeface="方正小标宋简体" panose="03000509000000000000" pitchFamily="65" charset="-122"/>
              <a:cs typeface="+mn-cs"/>
            </a:endParaRPr>
          </a:p>
          <a:p>
            <a:pPr marL="0" marR="0" lvl="0" indent="0" algn="ctr" defTabSz="1219200" rtl="0" eaLnBrk="1" fontAlgn="auto" latinLnBrk="0" hangingPunct="1">
              <a:lnSpc>
                <a:spcPct val="100000"/>
              </a:lnSpc>
              <a:spcBef>
                <a:spcPts val="0"/>
              </a:spcBef>
              <a:spcAft>
                <a:spcPts val="0"/>
              </a:spcAft>
              <a:buClrTx/>
              <a:buSzTx/>
              <a:buFontTx/>
              <a:buNone/>
              <a:defRPr/>
            </a:pPr>
            <a:r>
              <a:rPr kumimoji="0" lang="zh-CN" altLang="en-US" sz="5400" b="1" i="0" u="none" strike="noStrike" kern="1200" cap="none" spc="60" normalizeH="0" baseline="0" noProof="0" dirty="0">
                <a:ln>
                  <a:noFill/>
                </a:ln>
                <a:solidFill>
                  <a:srgbClr val="005DA2"/>
                </a:solidFill>
                <a:effectLst/>
                <a:uLnTx/>
                <a:uFillTx/>
                <a:latin typeface="方正小标宋简体" panose="03000509000000000000" pitchFamily="65" charset="-122"/>
                <a:ea typeface="方正小标宋简体" panose="03000509000000000000" pitchFamily="65" charset="-122"/>
                <a:cs typeface="+mn-cs"/>
              </a:rPr>
              <a:t>区域输电网稳定计算与故障分析</a:t>
            </a:r>
            <a:endParaRPr kumimoji="0" lang="zh-CN" altLang="en-US" sz="5400" b="1" i="0" u="none" strike="noStrike" kern="1200" cap="none" spc="60" normalizeH="0" baseline="0" noProof="0" dirty="0">
              <a:ln>
                <a:noFill/>
              </a:ln>
              <a:solidFill>
                <a:srgbClr val="005DA2"/>
              </a:solidFill>
              <a:effectLst/>
              <a:uLnTx/>
              <a:uFillTx/>
              <a:latin typeface="方正小标宋简体" panose="03000509000000000000" pitchFamily="65" charset="-122"/>
              <a:ea typeface="方正小标宋简体" panose="03000509000000000000" pitchFamily="65"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dirty="0" smtClean="0">
                <a:solidFill>
                  <a:prstClr val="white"/>
                </a:solidFill>
                <a:latin typeface="微软雅黑" panose="020B0503020204020204" charset="-122"/>
                <a:ea typeface="微软雅黑" panose="020B0503020204020204" charset="-122"/>
              </a:rPr>
              <a:t>负荷曲线及运行方式确定</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3" name="图片 11"/>
          <p:cNvPicPr>
            <a:picLocks noChangeAspect="1"/>
          </p:cNvPicPr>
          <p:nvPr/>
        </p:nvPicPr>
        <p:blipFill>
          <a:blip r:embed="rId1"/>
          <a:stretch>
            <a:fillRect/>
          </a:stretch>
        </p:blipFill>
        <p:spPr>
          <a:xfrm>
            <a:off x="160655" y="1535430"/>
            <a:ext cx="6901180" cy="4348480"/>
          </a:xfrm>
          <a:prstGeom prst="rect">
            <a:avLst/>
          </a:prstGeom>
          <a:noFill/>
          <a:ln>
            <a:noFill/>
          </a:ln>
        </p:spPr>
      </p:pic>
      <p:pic>
        <p:nvPicPr>
          <p:cNvPr id="2" name="Picture 1"/>
          <p:cNvPicPr>
            <a:picLocks noChangeAspect="1"/>
          </p:cNvPicPr>
          <p:nvPr/>
        </p:nvPicPr>
        <p:blipFill>
          <a:blip r:embed="rId2"/>
          <a:stretch>
            <a:fillRect/>
          </a:stretch>
        </p:blipFill>
        <p:spPr>
          <a:xfrm>
            <a:off x="7061835" y="3933825"/>
            <a:ext cx="4962525" cy="10096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dirty="0" smtClean="0">
                <a:solidFill>
                  <a:prstClr val="white"/>
                </a:solidFill>
                <a:latin typeface="微软雅黑" panose="020B0503020204020204" charset="-122"/>
                <a:ea typeface="微软雅黑" panose="020B0503020204020204" charset="-122"/>
              </a:rPr>
              <a:t>负荷曲线及运行方式确定</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 name="Text Box 1"/>
          <p:cNvSpPr txBox="1"/>
          <p:nvPr/>
        </p:nvSpPr>
        <p:spPr>
          <a:xfrm>
            <a:off x="822325" y="1326515"/>
            <a:ext cx="10547985" cy="706755"/>
          </a:xfrm>
          <a:prstGeom prst="rect">
            <a:avLst/>
          </a:prstGeom>
          <a:noFill/>
        </p:spPr>
        <p:txBody>
          <a:bodyPr wrap="square" rtlCol="0">
            <a:spAutoFit/>
          </a:bodyPr>
          <a:p>
            <a:r>
              <a:rPr lang="zh-CN" altLang="en-US" sz="2000" dirty="0" smtClean="0">
                <a:solidFill>
                  <a:schemeClr val="tx1">
                    <a:lumMod val="75000"/>
                    <a:lumOff val="25000"/>
                  </a:schemeClr>
                </a:solidFill>
                <a:latin typeface="微软雅黑" panose="020B0503020204020204" charset="-122"/>
                <a:ea typeface="微软雅黑" panose="020B0503020204020204" charset="-122"/>
              </a:rPr>
              <a:t>方式一：晚高峰大负荷运行方式</a:t>
            </a:r>
            <a:endParaRPr lang="zh-CN" altLang="en-US" sz="2000" dirty="0" smtClean="0">
              <a:solidFill>
                <a:schemeClr val="tx1">
                  <a:lumMod val="75000"/>
                  <a:lumOff val="25000"/>
                </a:schemeClr>
              </a:solidFill>
              <a:latin typeface="微软雅黑" panose="020B0503020204020204" charset="-122"/>
              <a:ea typeface="微软雅黑" panose="020B0503020204020204" charset="-122"/>
            </a:endParaRPr>
          </a:p>
          <a:p>
            <a:r>
              <a:rPr lang="zh-CN" altLang="en-US" sz="2000" dirty="0" smtClean="0">
                <a:solidFill>
                  <a:schemeClr val="tx1">
                    <a:lumMod val="75000"/>
                    <a:lumOff val="25000"/>
                  </a:schemeClr>
                </a:solidFill>
                <a:latin typeface="微软雅黑" panose="020B0503020204020204" charset="-122"/>
                <a:ea typeface="微软雅黑" panose="020B0503020204020204" charset="-122"/>
              </a:rPr>
              <a:t>此方式对应图</a:t>
            </a:r>
            <a:r>
              <a:rPr lang="en-US" altLang="en-US" sz="2000" dirty="0" smtClean="0">
                <a:solidFill>
                  <a:schemeClr val="tx1">
                    <a:lumMod val="75000"/>
                    <a:lumOff val="25000"/>
                  </a:schemeClr>
                </a:solidFill>
                <a:latin typeface="微软雅黑" panose="020B0503020204020204" charset="-122"/>
                <a:ea typeface="微软雅黑" panose="020B0503020204020204" charset="-122"/>
              </a:rPr>
              <a:t>2-1</a:t>
            </a:r>
            <a:r>
              <a:rPr lang="zh-CN" altLang="en-US" sz="2000" dirty="0" smtClean="0">
                <a:solidFill>
                  <a:schemeClr val="tx1">
                    <a:lumMod val="75000"/>
                    <a:lumOff val="25000"/>
                  </a:schemeClr>
                </a:solidFill>
                <a:latin typeface="微软雅黑" panose="020B0503020204020204" charset="-122"/>
                <a:ea typeface="微软雅黑" panose="020B0503020204020204" charset="-122"/>
              </a:rPr>
              <a:t>中晚间</a:t>
            </a:r>
            <a:r>
              <a:rPr lang="en-US" altLang="en-US" sz="2000" dirty="0" smtClean="0">
                <a:solidFill>
                  <a:schemeClr val="tx1">
                    <a:lumMod val="75000"/>
                    <a:lumOff val="25000"/>
                  </a:schemeClr>
                </a:solidFill>
                <a:latin typeface="微软雅黑" panose="020B0503020204020204" charset="-122"/>
                <a:ea typeface="微软雅黑" panose="020B0503020204020204" charset="-122"/>
              </a:rPr>
              <a:t>18:00-22:00</a:t>
            </a:r>
            <a:r>
              <a:rPr lang="zh-CN" altLang="en-US" sz="2000" dirty="0" smtClean="0">
                <a:solidFill>
                  <a:schemeClr val="tx1">
                    <a:lumMod val="75000"/>
                    <a:lumOff val="25000"/>
                  </a:schemeClr>
                </a:solidFill>
                <a:latin typeface="微软雅黑" panose="020B0503020204020204" charset="-122"/>
                <a:ea typeface="微软雅黑" panose="020B0503020204020204" charset="-122"/>
              </a:rPr>
              <a:t>的负荷高峰时段，此时系统总负荷标幺值约为</a:t>
            </a:r>
            <a:r>
              <a:rPr lang="en-US" altLang="en-US" sz="2000" dirty="0" smtClean="0">
                <a:solidFill>
                  <a:schemeClr val="tx1">
                    <a:lumMod val="75000"/>
                    <a:lumOff val="25000"/>
                  </a:schemeClr>
                </a:solidFill>
                <a:latin typeface="微软雅黑" panose="020B0503020204020204" charset="-122"/>
                <a:ea typeface="微软雅黑" panose="020B0503020204020204" charset="-122"/>
              </a:rPr>
              <a:t>0.9</a:t>
            </a:r>
            <a:r>
              <a:rPr lang="zh-CN" altLang="en-US" sz="2000" dirty="0" smtClean="0">
                <a:solidFill>
                  <a:schemeClr val="tx1">
                    <a:lumMod val="75000"/>
                    <a:lumOff val="25000"/>
                  </a:schemeClr>
                </a:solidFill>
                <a:latin typeface="微软雅黑" panose="020B0503020204020204" charset="-122"/>
                <a:ea typeface="微软雅黑" panose="020B0503020204020204" charset="-122"/>
              </a:rPr>
              <a:t>。</a:t>
            </a:r>
            <a:endParaRPr lang="zh-CN" altLang="en-US" sz="20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5" name="Text Box 4"/>
          <p:cNvSpPr txBox="1"/>
          <p:nvPr/>
        </p:nvSpPr>
        <p:spPr>
          <a:xfrm>
            <a:off x="1871980" y="2609215"/>
            <a:ext cx="8448040" cy="3008630"/>
          </a:xfrm>
          <a:prstGeom prst="rect">
            <a:avLst/>
          </a:prstGeom>
          <a:noFill/>
        </p:spPr>
        <p:txBody>
          <a:bodyPr wrap="square" rtlCol="0">
            <a:noAutofit/>
          </a:bodyPr>
          <a:p>
            <a:r>
              <a:rPr lang="zh-CN" altLang="en-US" dirty="0" smtClean="0">
                <a:solidFill>
                  <a:schemeClr val="tx1">
                    <a:lumMod val="75000"/>
                    <a:lumOff val="25000"/>
                  </a:schemeClr>
                </a:solidFill>
                <a:latin typeface="微软雅黑" panose="020B0503020204020204" charset="-122"/>
                <a:ea typeface="微软雅黑" panose="020B0503020204020204" charset="-122"/>
              </a:rPr>
              <a:t>稳定风险分析：</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a:p>
            <a:r>
              <a:rPr lang="en-US" altLang="en-US" dirty="0" smtClean="0">
                <a:solidFill>
                  <a:schemeClr val="tx1">
                    <a:lumMod val="75000"/>
                    <a:lumOff val="25000"/>
                  </a:schemeClr>
                </a:solidFill>
                <a:latin typeface="微软雅黑" panose="020B0503020204020204" charset="-122"/>
                <a:ea typeface="微软雅黑" panose="020B0503020204020204" charset="-122"/>
              </a:rPr>
              <a:t>1</a:t>
            </a:r>
            <a:r>
              <a:rPr lang="zh-CN" altLang="en-US" dirty="0" smtClean="0">
                <a:solidFill>
                  <a:schemeClr val="tx1">
                    <a:lumMod val="75000"/>
                    <a:lumOff val="25000"/>
                  </a:schemeClr>
                </a:solidFill>
                <a:latin typeface="微软雅黑" panose="020B0503020204020204" charset="-122"/>
                <a:ea typeface="微软雅黑" panose="020B0503020204020204" charset="-122"/>
              </a:rPr>
              <a:t>、电压稳定风险：在高负荷情况下，线路无功损耗大幅增加，系统对无功功率的需求达到顶峰。若无功补偿不足，母线电压，尤其是远离电源的负荷中心母线电压，可能被拉低至运行下限，存在较高的电压失稳风险。</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a:p>
            <a:r>
              <a:rPr lang="en-US" altLang="en-US" dirty="0" smtClean="0">
                <a:solidFill>
                  <a:schemeClr val="tx1">
                    <a:lumMod val="75000"/>
                    <a:lumOff val="25000"/>
                  </a:schemeClr>
                </a:solidFill>
                <a:latin typeface="微软雅黑" panose="020B0503020204020204" charset="-122"/>
                <a:ea typeface="微软雅黑" panose="020B0503020204020204" charset="-122"/>
              </a:rPr>
              <a:t>2</a:t>
            </a:r>
            <a:r>
              <a:rPr lang="zh-CN" altLang="en-US" dirty="0" smtClean="0">
                <a:solidFill>
                  <a:schemeClr val="tx1">
                    <a:lumMod val="75000"/>
                    <a:lumOff val="25000"/>
                  </a:schemeClr>
                </a:solidFill>
                <a:latin typeface="微软雅黑" panose="020B0503020204020204" charset="-122"/>
                <a:ea typeface="微软雅黑" panose="020B0503020204020204" charset="-122"/>
              </a:rPr>
              <a:t>、功角稳定风险：重载线路的传输功率接近其热稳定极限，导致系统等值电抗增大，电气距离变长。一旦发生扰动，发电机间的同步功率系数减小，更容易引发功角失稳。</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a:p>
            <a:r>
              <a:rPr lang="en-US" altLang="en-US" dirty="0" smtClean="0">
                <a:solidFill>
                  <a:schemeClr val="tx1">
                    <a:lumMod val="75000"/>
                    <a:lumOff val="25000"/>
                  </a:schemeClr>
                </a:solidFill>
                <a:latin typeface="微软雅黑" panose="020B0503020204020204" charset="-122"/>
                <a:ea typeface="微软雅黑" panose="020B0503020204020204" charset="-122"/>
              </a:rPr>
              <a:t>N-1</a:t>
            </a:r>
            <a:r>
              <a:rPr lang="zh-CN" altLang="en-US" dirty="0" smtClean="0">
                <a:solidFill>
                  <a:schemeClr val="tx1">
                    <a:lumMod val="75000"/>
                    <a:lumOff val="25000"/>
                  </a:schemeClr>
                </a:solidFill>
                <a:latin typeface="微软雅黑" panose="020B0503020204020204" charset="-122"/>
                <a:ea typeface="微软雅黑" panose="020B0503020204020204" charset="-122"/>
              </a:rPr>
              <a:t>校验风险：在此方式下，任何一条关键线路因故障退出运行，都可能导致潮流大规模转移，引起其他线路过载，形成连锁故障。</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b="1" dirty="0" smtClean="0">
                <a:solidFill>
                  <a:prstClr val="white"/>
                </a:solidFill>
                <a:latin typeface="微软雅黑" panose="020B0503020204020204" charset="-122"/>
                <a:ea typeface="微软雅黑" panose="020B0503020204020204" charset="-122"/>
              </a:rPr>
              <a:t>负荷曲线及运行方式确定</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 name="Text Box 1"/>
          <p:cNvSpPr txBox="1"/>
          <p:nvPr/>
        </p:nvSpPr>
        <p:spPr>
          <a:xfrm>
            <a:off x="672465" y="1360805"/>
            <a:ext cx="11008995" cy="1322070"/>
          </a:xfrm>
          <a:prstGeom prst="rect">
            <a:avLst/>
          </a:prstGeom>
          <a:noFill/>
        </p:spPr>
        <p:txBody>
          <a:bodyPr wrap="square" rtlCol="0">
            <a:spAutoFit/>
          </a:bodyPr>
          <a:p>
            <a:r>
              <a:rPr lang="zh-CN" altLang="en-US" sz="2000" dirty="0" smtClean="0">
                <a:solidFill>
                  <a:schemeClr val="tx1">
                    <a:lumMod val="75000"/>
                    <a:lumOff val="25000"/>
                  </a:schemeClr>
                </a:solidFill>
                <a:latin typeface="微软雅黑" panose="020B0503020204020204" charset="-122"/>
                <a:ea typeface="微软雅黑" panose="020B0503020204020204" charset="-122"/>
              </a:rPr>
              <a:t>方式二：负荷高峰期开环运行方式</a:t>
            </a:r>
            <a:endParaRPr lang="zh-CN" altLang="en-US" sz="2000" dirty="0" smtClean="0">
              <a:solidFill>
                <a:schemeClr val="tx1">
                  <a:lumMod val="75000"/>
                  <a:lumOff val="25000"/>
                </a:schemeClr>
              </a:solidFill>
              <a:latin typeface="微软雅黑" panose="020B0503020204020204" charset="-122"/>
              <a:ea typeface="微软雅黑" panose="020B0503020204020204" charset="-122"/>
            </a:endParaRPr>
          </a:p>
          <a:p>
            <a:r>
              <a:rPr lang="zh-CN" altLang="en-US" sz="2000" dirty="0" smtClean="0">
                <a:solidFill>
                  <a:schemeClr val="tx1">
                    <a:lumMod val="75000"/>
                    <a:lumOff val="25000"/>
                  </a:schemeClr>
                </a:solidFill>
                <a:latin typeface="微软雅黑" panose="020B0503020204020204" charset="-122"/>
                <a:ea typeface="微软雅黑" panose="020B0503020204020204" charset="-122"/>
              </a:rPr>
              <a:t>在方式一（晚高峰大负荷）的基础上，假设连接</a:t>
            </a:r>
            <a:r>
              <a:rPr lang="en-US" altLang="en-US" sz="2000" dirty="0" smtClean="0">
                <a:solidFill>
                  <a:schemeClr val="tx1">
                    <a:lumMod val="75000"/>
                    <a:lumOff val="25000"/>
                  </a:schemeClr>
                </a:solidFill>
                <a:latin typeface="微软雅黑" panose="020B0503020204020204" charset="-122"/>
                <a:ea typeface="微软雅黑" panose="020B0503020204020204" charset="-122"/>
              </a:rPr>
              <a:t>#6</a:t>
            </a:r>
            <a:r>
              <a:rPr lang="zh-CN" altLang="en-US" sz="2000" dirty="0" smtClean="0">
                <a:solidFill>
                  <a:schemeClr val="tx1">
                    <a:lumMod val="75000"/>
                    <a:lumOff val="25000"/>
                  </a:schemeClr>
                </a:solidFill>
                <a:latin typeface="微软雅黑" panose="020B0503020204020204" charset="-122"/>
                <a:ea typeface="微软雅黑" panose="020B0503020204020204" charset="-122"/>
              </a:rPr>
              <a:t>（发电机高压母线节点）与</a:t>
            </a:r>
            <a:r>
              <a:rPr lang="en-US" altLang="en-US" sz="2000" dirty="0" smtClean="0">
                <a:solidFill>
                  <a:schemeClr val="tx1">
                    <a:lumMod val="75000"/>
                    <a:lumOff val="25000"/>
                  </a:schemeClr>
                </a:solidFill>
                <a:latin typeface="微软雅黑" panose="020B0503020204020204" charset="-122"/>
                <a:ea typeface="微软雅黑" panose="020B0503020204020204" charset="-122"/>
              </a:rPr>
              <a:t>#5</a:t>
            </a:r>
            <a:r>
              <a:rPr lang="zh-CN" altLang="en-US" sz="2000" dirty="0" smtClean="0">
                <a:solidFill>
                  <a:schemeClr val="tx1">
                    <a:lumMod val="75000"/>
                    <a:lumOff val="25000"/>
                  </a:schemeClr>
                </a:solidFill>
                <a:latin typeface="微软雅黑" panose="020B0503020204020204" charset="-122"/>
                <a:ea typeface="微软雅黑" panose="020B0503020204020204" charset="-122"/>
              </a:rPr>
              <a:t>变电站（最大负荷站）之间的线路（长度</a:t>
            </a:r>
            <a:r>
              <a:rPr lang="en-US" altLang="en-US" sz="2000" dirty="0" smtClean="0">
                <a:solidFill>
                  <a:schemeClr val="tx1">
                    <a:lumMod val="75000"/>
                    <a:lumOff val="25000"/>
                  </a:schemeClr>
                </a:solidFill>
                <a:latin typeface="微软雅黑" panose="020B0503020204020204" charset="-122"/>
                <a:ea typeface="微软雅黑" panose="020B0503020204020204" charset="-122"/>
              </a:rPr>
              <a:t>30km</a:t>
            </a:r>
            <a:r>
              <a:rPr lang="zh-CN" altLang="en-US" sz="2000" dirty="0" smtClean="0">
                <a:solidFill>
                  <a:schemeClr val="tx1">
                    <a:lumMod val="75000"/>
                    <a:lumOff val="25000"/>
                  </a:schemeClr>
                </a:solidFill>
                <a:latin typeface="微软雅黑" panose="020B0503020204020204" charset="-122"/>
                <a:ea typeface="微软雅黑" panose="020B0503020204020204" charset="-122"/>
              </a:rPr>
              <a:t>）因计划检修而退出运行。此时，系统不仅处于负荷高峰，同时系统开环运行，网络结构被削弱。</a:t>
            </a:r>
            <a:endParaRPr lang="zh-CN" altLang="en-US" sz="20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3" name="Text Box 2"/>
          <p:cNvSpPr txBox="1"/>
          <p:nvPr/>
        </p:nvSpPr>
        <p:spPr>
          <a:xfrm>
            <a:off x="1020445" y="2843530"/>
            <a:ext cx="9783445" cy="2806065"/>
          </a:xfrm>
          <a:prstGeom prst="rect">
            <a:avLst/>
          </a:prstGeom>
          <a:noFill/>
        </p:spPr>
        <p:txBody>
          <a:bodyPr wrap="square" rtlCol="0">
            <a:noAutofit/>
          </a:bodyPr>
          <a:p>
            <a:r>
              <a:rPr lang="zh-CN" altLang="en-US" dirty="0" smtClean="0">
                <a:solidFill>
                  <a:schemeClr val="tx1">
                    <a:lumMod val="75000"/>
                    <a:lumOff val="25000"/>
                  </a:schemeClr>
                </a:solidFill>
                <a:latin typeface="微软雅黑" panose="020B0503020204020204" charset="-122"/>
                <a:ea typeface="微软雅黑" panose="020B0503020204020204" charset="-122"/>
              </a:rPr>
              <a:t>稳定风险分析：</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a:p>
            <a:r>
              <a:rPr lang="en-US" altLang="en-US" dirty="0" smtClean="0">
                <a:solidFill>
                  <a:schemeClr val="tx1">
                    <a:lumMod val="75000"/>
                    <a:lumOff val="25000"/>
                  </a:schemeClr>
                </a:solidFill>
                <a:latin typeface="微软雅黑" panose="020B0503020204020204" charset="-122"/>
                <a:ea typeface="微软雅黑" panose="020B0503020204020204" charset="-122"/>
              </a:rPr>
              <a:t>1</a:t>
            </a:r>
            <a:r>
              <a:rPr lang="zh-CN" altLang="en-US" dirty="0" smtClean="0">
                <a:solidFill>
                  <a:schemeClr val="tx1">
                    <a:lumMod val="75000"/>
                    <a:lumOff val="25000"/>
                  </a:schemeClr>
                </a:solidFill>
                <a:latin typeface="微软雅黑" panose="020B0503020204020204" charset="-122"/>
                <a:ea typeface="微软雅黑" panose="020B0503020204020204" charset="-122"/>
              </a:rPr>
              <a:t>、潮流转移与线路过载风险：该线路退出后，原本由其输送的功率将转移至剩余的联络线上，可能导致与发电机节点相连的另一回线路或其它路径的线路严重过载，超出其热稳定极限。</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a:p>
            <a:r>
              <a:rPr lang="en-US" altLang="en-US" dirty="0" smtClean="0">
                <a:solidFill>
                  <a:schemeClr val="tx1">
                    <a:lumMod val="75000"/>
                    <a:lumOff val="25000"/>
                  </a:schemeClr>
                </a:solidFill>
                <a:latin typeface="微软雅黑" panose="020B0503020204020204" charset="-122"/>
                <a:ea typeface="微软雅黑" panose="020B0503020204020204" charset="-122"/>
              </a:rPr>
              <a:t>2</a:t>
            </a:r>
            <a:r>
              <a:rPr lang="zh-CN" altLang="en-US" dirty="0" smtClean="0">
                <a:solidFill>
                  <a:schemeClr val="tx1">
                    <a:lumMod val="75000"/>
                    <a:lumOff val="25000"/>
                  </a:schemeClr>
                </a:solidFill>
                <a:latin typeface="微软雅黑" panose="020B0503020204020204" charset="-122"/>
                <a:ea typeface="微软雅黑" panose="020B0503020204020204" charset="-122"/>
              </a:rPr>
              <a:t>、功角稳定风险显著增加：网络结构的削弱使得系统的整体电气联系变差，转移阻抗增大。这导致发电厂</a:t>
            </a:r>
            <a:r>
              <a:rPr lang="en-US" altLang="en-US" dirty="0" smtClean="0">
                <a:solidFill>
                  <a:schemeClr val="tx1">
                    <a:lumMod val="75000"/>
                    <a:lumOff val="25000"/>
                  </a:schemeClr>
                </a:solidFill>
                <a:latin typeface="微软雅黑" panose="020B0503020204020204" charset="-122"/>
                <a:ea typeface="微软雅黑" panose="020B0503020204020204" charset="-122"/>
              </a:rPr>
              <a:t>G</a:t>
            </a:r>
            <a:r>
              <a:rPr lang="zh-CN" altLang="en-US" dirty="0" smtClean="0">
                <a:solidFill>
                  <a:schemeClr val="tx1">
                    <a:lumMod val="75000"/>
                    <a:lumOff val="25000"/>
                  </a:schemeClr>
                </a:solidFill>
                <a:latin typeface="微软雅黑" panose="020B0503020204020204" charset="-122"/>
                <a:ea typeface="微软雅黑" panose="020B0503020204020204" charset="-122"/>
              </a:rPr>
              <a:t>与无穷大系统之间的电气距离显著增加，同步能力下降。在此方式下发生故障，发电机的功角摇摆幅度将更大，极限切除时间更短，系统暂态稳定裕度大大降低。</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a:p>
            <a:r>
              <a:rPr lang="en-US" altLang="en-US" dirty="0" smtClean="0">
                <a:solidFill>
                  <a:schemeClr val="tx1">
                    <a:lumMod val="75000"/>
                    <a:lumOff val="25000"/>
                  </a:schemeClr>
                </a:solidFill>
                <a:latin typeface="微软雅黑" panose="020B0503020204020204" charset="-122"/>
                <a:ea typeface="微软雅黑" panose="020B0503020204020204" charset="-122"/>
              </a:rPr>
              <a:t>3</a:t>
            </a:r>
            <a:r>
              <a:rPr lang="zh-CN" altLang="en-US" dirty="0" smtClean="0">
                <a:solidFill>
                  <a:schemeClr val="tx1">
                    <a:lumMod val="75000"/>
                    <a:lumOff val="25000"/>
                  </a:schemeClr>
                </a:solidFill>
                <a:latin typeface="微软雅黑" panose="020B0503020204020204" charset="-122"/>
                <a:ea typeface="微软雅黑" panose="020B0503020204020204" charset="-122"/>
              </a:rPr>
              <a:t>、电压稳定风险加剧：潮流的非正常分布会增加相关路径上的无功损耗，同时削弱了电压支撑，可能引发局部区域的电压崩溃。</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a:p>
            <a:r>
              <a:rPr lang="zh-CN" altLang="en-US" dirty="0" smtClean="0">
                <a:solidFill>
                  <a:schemeClr val="tx1">
                    <a:lumMod val="75000"/>
                    <a:lumOff val="25000"/>
                  </a:schemeClr>
                </a:solidFill>
                <a:latin typeface="微软雅黑" panose="020B0503020204020204" charset="-122"/>
                <a:ea typeface="微软雅黑" panose="020B0503020204020204" charset="-122"/>
              </a:rPr>
              <a:t>此方式是</a:t>
            </a:r>
            <a:r>
              <a:rPr lang="en-US" altLang="en-US" dirty="0" smtClean="0">
                <a:solidFill>
                  <a:schemeClr val="tx1">
                    <a:lumMod val="75000"/>
                    <a:lumOff val="25000"/>
                  </a:schemeClr>
                </a:solidFill>
                <a:latin typeface="微软雅黑" panose="020B0503020204020204" charset="-122"/>
                <a:ea typeface="微软雅黑" panose="020B0503020204020204" charset="-122"/>
              </a:rPr>
              <a:t>“</a:t>
            </a:r>
            <a:r>
              <a:rPr lang="zh-CN" altLang="en-US" dirty="0" smtClean="0">
                <a:solidFill>
                  <a:schemeClr val="tx1">
                    <a:lumMod val="75000"/>
                    <a:lumOff val="25000"/>
                  </a:schemeClr>
                </a:solidFill>
                <a:latin typeface="微软雅黑" panose="020B0503020204020204" charset="-122"/>
                <a:ea typeface="微软雅黑" panose="020B0503020204020204" charset="-122"/>
              </a:rPr>
              <a:t>最恶劣运行方式</a:t>
            </a:r>
            <a:r>
              <a:rPr lang="en-US" altLang="en-US" dirty="0" smtClean="0">
                <a:solidFill>
                  <a:schemeClr val="tx1">
                    <a:lumMod val="75000"/>
                    <a:lumOff val="25000"/>
                  </a:schemeClr>
                </a:solidFill>
                <a:latin typeface="微软雅黑" panose="020B0503020204020204" charset="-122"/>
                <a:ea typeface="微软雅黑" panose="020B0503020204020204" charset="-122"/>
              </a:rPr>
              <a:t>”</a:t>
            </a:r>
            <a:r>
              <a:rPr lang="zh-CN" altLang="en-US" dirty="0" smtClean="0">
                <a:solidFill>
                  <a:schemeClr val="tx1">
                    <a:lumMod val="75000"/>
                    <a:lumOff val="25000"/>
                  </a:schemeClr>
                </a:solidFill>
                <a:latin typeface="微软雅黑" panose="020B0503020204020204" charset="-122"/>
                <a:ea typeface="微软雅黑" panose="020B0503020204020204" charset="-122"/>
              </a:rPr>
              <a:t>的典型代表，结合了高负荷与薄弱网架，是稳定分析和安全校核的重点。</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电网结构图</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30" name="图片 232"/>
          <p:cNvPicPr>
            <a:picLocks noChangeAspect="1"/>
          </p:cNvPicPr>
          <p:nvPr/>
        </p:nvPicPr>
        <p:blipFill>
          <a:blip r:embed="rId1"/>
          <a:stretch>
            <a:fillRect/>
          </a:stretch>
        </p:blipFill>
        <p:spPr>
          <a:xfrm>
            <a:off x="694690" y="1515745"/>
            <a:ext cx="4444365" cy="4234180"/>
          </a:xfrm>
          <a:prstGeom prst="rect">
            <a:avLst/>
          </a:prstGeom>
          <a:noFill/>
          <a:ln>
            <a:noFill/>
          </a:ln>
        </p:spPr>
      </p:pic>
      <p:sp>
        <p:nvSpPr>
          <p:cNvPr id="5" name="Text Box 4"/>
          <p:cNvSpPr txBox="1"/>
          <p:nvPr/>
        </p:nvSpPr>
        <p:spPr>
          <a:xfrm>
            <a:off x="5756275" y="1685290"/>
            <a:ext cx="5812790" cy="4523105"/>
          </a:xfrm>
          <a:prstGeom prst="rect">
            <a:avLst/>
          </a:prstGeom>
          <a:noFill/>
        </p:spPr>
        <p:txBody>
          <a:bodyPr wrap="square" rtlCol="0">
            <a:spAutoFit/>
          </a:bodyPr>
          <a:p>
            <a:r>
              <a:rPr lang="en-US" altLang="en-US" dirty="0" smtClean="0">
                <a:solidFill>
                  <a:schemeClr val="tx1">
                    <a:lumMod val="75000"/>
                    <a:lumOff val="25000"/>
                  </a:schemeClr>
                </a:solidFill>
                <a:latin typeface="微软雅黑" panose="020B0503020204020204" charset="-122"/>
                <a:ea typeface="微软雅黑" panose="020B0503020204020204" charset="-122"/>
              </a:rPr>
              <a:t>1</a:t>
            </a:r>
            <a:r>
              <a:rPr lang="zh-CN" altLang="en-US" dirty="0" smtClean="0">
                <a:solidFill>
                  <a:schemeClr val="tx1">
                    <a:lumMod val="75000"/>
                    <a:lumOff val="25000"/>
                  </a:schemeClr>
                </a:solidFill>
                <a:latin typeface="微软雅黑" panose="020B0503020204020204" charset="-122"/>
                <a:ea typeface="微软雅黑" panose="020B0503020204020204" charset="-122"/>
              </a:rPr>
              <a:t>、核心电源与平衡节点：</a:t>
            </a:r>
            <a:r>
              <a:rPr lang="en-US" altLang="en-US" dirty="0" smtClean="0">
                <a:solidFill>
                  <a:schemeClr val="tx1">
                    <a:lumMod val="75000"/>
                    <a:lumOff val="25000"/>
                  </a:schemeClr>
                </a:solidFill>
                <a:latin typeface="微软雅黑" panose="020B0503020204020204" charset="-122"/>
                <a:ea typeface="微软雅黑" panose="020B0503020204020204" charset="-122"/>
              </a:rPr>
              <a:t>500kV</a:t>
            </a:r>
            <a:r>
              <a:rPr lang="zh-CN" altLang="en-US" dirty="0" smtClean="0">
                <a:solidFill>
                  <a:schemeClr val="tx1">
                    <a:lumMod val="75000"/>
                    <a:lumOff val="25000"/>
                  </a:schemeClr>
                </a:solidFill>
                <a:latin typeface="微软雅黑" panose="020B0503020204020204" charset="-122"/>
                <a:ea typeface="微软雅黑" panose="020B0503020204020204" charset="-122"/>
              </a:rPr>
              <a:t>变电站（</a:t>
            </a:r>
            <a:r>
              <a:rPr lang="en-US" altLang="en-US" dirty="0" smtClean="0">
                <a:solidFill>
                  <a:schemeClr val="tx1">
                    <a:lumMod val="75000"/>
                    <a:lumOff val="25000"/>
                  </a:schemeClr>
                </a:solidFill>
                <a:latin typeface="微软雅黑" panose="020B0503020204020204" charset="-122"/>
                <a:ea typeface="微软雅黑" panose="020B0503020204020204" charset="-122"/>
              </a:rPr>
              <a:t>#1</a:t>
            </a:r>
            <a:r>
              <a:rPr lang="zh-CN" altLang="en-US" dirty="0" smtClean="0">
                <a:solidFill>
                  <a:schemeClr val="tx1">
                    <a:lumMod val="75000"/>
                    <a:lumOff val="25000"/>
                  </a:schemeClr>
                </a:solidFill>
                <a:latin typeface="微软雅黑" panose="020B0503020204020204" charset="-122"/>
                <a:ea typeface="微软雅黑" panose="020B0503020204020204" charset="-122"/>
              </a:rPr>
              <a:t>）的</a:t>
            </a:r>
            <a:r>
              <a:rPr lang="en-US" altLang="en-US" dirty="0" smtClean="0">
                <a:solidFill>
                  <a:schemeClr val="tx1">
                    <a:lumMod val="75000"/>
                    <a:lumOff val="25000"/>
                  </a:schemeClr>
                </a:solidFill>
                <a:latin typeface="微软雅黑" panose="020B0503020204020204" charset="-122"/>
                <a:ea typeface="微软雅黑" panose="020B0503020204020204" charset="-122"/>
              </a:rPr>
              <a:t>220kV</a:t>
            </a:r>
            <a:r>
              <a:rPr lang="zh-CN" altLang="en-US" dirty="0" smtClean="0">
                <a:solidFill>
                  <a:schemeClr val="tx1">
                    <a:lumMod val="75000"/>
                    <a:lumOff val="25000"/>
                  </a:schemeClr>
                </a:solidFill>
                <a:latin typeface="微软雅黑" panose="020B0503020204020204" charset="-122"/>
                <a:ea typeface="微软雅黑" panose="020B0503020204020204" charset="-122"/>
              </a:rPr>
              <a:t>母线被视为平衡节点，其电压恒定在</a:t>
            </a:r>
            <a:r>
              <a:rPr lang="en-US" altLang="en-US" dirty="0" smtClean="0">
                <a:solidFill>
                  <a:schemeClr val="tx1">
                    <a:lumMod val="75000"/>
                    <a:lumOff val="25000"/>
                  </a:schemeClr>
                </a:solidFill>
                <a:latin typeface="微软雅黑" panose="020B0503020204020204" charset="-122"/>
                <a:ea typeface="微软雅黑" panose="020B0503020204020204" charset="-122"/>
              </a:rPr>
              <a:t>230kV</a:t>
            </a:r>
            <a:r>
              <a:rPr lang="zh-CN" altLang="en-US" dirty="0" smtClean="0">
                <a:solidFill>
                  <a:schemeClr val="tx1">
                    <a:lumMod val="75000"/>
                    <a:lumOff val="25000"/>
                  </a:schemeClr>
                </a:solidFill>
                <a:latin typeface="微软雅黑" panose="020B0503020204020204" charset="-122"/>
                <a:ea typeface="微软雅黑" panose="020B0503020204020204" charset="-122"/>
              </a:rPr>
              <a:t>，承担系统的功率不平衡量，在分析中等效为无穷大系统。</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a:p>
            <a:r>
              <a:rPr lang="en-US" altLang="en-US" dirty="0" smtClean="0">
                <a:solidFill>
                  <a:schemeClr val="tx1">
                    <a:lumMod val="75000"/>
                    <a:lumOff val="25000"/>
                  </a:schemeClr>
                </a:solidFill>
                <a:latin typeface="微软雅黑" panose="020B0503020204020204" charset="-122"/>
                <a:ea typeface="微软雅黑" panose="020B0503020204020204" charset="-122"/>
              </a:rPr>
              <a:t>2</a:t>
            </a:r>
            <a:r>
              <a:rPr lang="zh-CN" altLang="en-US" dirty="0" smtClean="0">
                <a:solidFill>
                  <a:schemeClr val="tx1">
                    <a:lumMod val="75000"/>
                    <a:lumOff val="25000"/>
                  </a:schemeClr>
                </a:solidFill>
                <a:latin typeface="微软雅黑" panose="020B0503020204020204" charset="-122"/>
                <a:ea typeface="微软雅黑" panose="020B0503020204020204" charset="-122"/>
              </a:rPr>
              <a:t>、负荷变电站：系统中包含</a:t>
            </a:r>
            <a:r>
              <a:rPr lang="en-US" altLang="en-US" dirty="0" smtClean="0">
                <a:solidFill>
                  <a:schemeClr val="tx1">
                    <a:lumMod val="75000"/>
                    <a:lumOff val="25000"/>
                  </a:schemeClr>
                </a:solidFill>
                <a:latin typeface="微软雅黑" panose="020B0503020204020204" charset="-122"/>
                <a:ea typeface="微软雅黑" panose="020B0503020204020204" charset="-122"/>
              </a:rPr>
              <a:t>#2</a:t>
            </a:r>
            <a:r>
              <a:rPr lang="zh-CN" altLang="en-US" dirty="0" smtClean="0">
                <a:solidFill>
                  <a:schemeClr val="tx1">
                    <a:lumMod val="75000"/>
                    <a:lumOff val="25000"/>
                  </a:schemeClr>
                </a:solidFill>
                <a:latin typeface="微软雅黑" panose="020B0503020204020204" charset="-122"/>
                <a:ea typeface="微软雅黑" panose="020B0503020204020204" charset="-122"/>
              </a:rPr>
              <a:t>、</a:t>
            </a:r>
            <a:r>
              <a:rPr lang="en-US" altLang="en-US" dirty="0" smtClean="0">
                <a:solidFill>
                  <a:schemeClr val="tx1">
                    <a:lumMod val="75000"/>
                    <a:lumOff val="25000"/>
                  </a:schemeClr>
                </a:solidFill>
                <a:latin typeface="微软雅黑" panose="020B0503020204020204" charset="-122"/>
                <a:ea typeface="微软雅黑" panose="020B0503020204020204" charset="-122"/>
              </a:rPr>
              <a:t>#3</a:t>
            </a:r>
            <a:r>
              <a:rPr lang="zh-CN" altLang="en-US" dirty="0" smtClean="0">
                <a:solidFill>
                  <a:schemeClr val="tx1">
                    <a:lumMod val="75000"/>
                    <a:lumOff val="25000"/>
                  </a:schemeClr>
                </a:solidFill>
                <a:latin typeface="微软雅黑" panose="020B0503020204020204" charset="-122"/>
                <a:ea typeface="微软雅黑" panose="020B0503020204020204" charset="-122"/>
              </a:rPr>
              <a:t>、</a:t>
            </a:r>
            <a:r>
              <a:rPr lang="en-US" altLang="en-US" dirty="0" smtClean="0">
                <a:solidFill>
                  <a:schemeClr val="tx1">
                    <a:lumMod val="75000"/>
                    <a:lumOff val="25000"/>
                  </a:schemeClr>
                </a:solidFill>
                <a:latin typeface="微软雅黑" panose="020B0503020204020204" charset="-122"/>
                <a:ea typeface="微软雅黑" panose="020B0503020204020204" charset="-122"/>
              </a:rPr>
              <a:t>#4</a:t>
            </a:r>
            <a:r>
              <a:rPr lang="zh-CN" altLang="en-US" dirty="0" smtClean="0">
                <a:solidFill>
                  <a:schemeClr val="tx1">
                    <a:lumMod val="75000"/>
                    <a:lumOff val="25000"/>
                  </a:schemeClr>
                </a:solidFill>
                <a:latin typeface="微软雅黑" panose="020B0503020204020204" charset="-122"/>
                <a:ea typeface="微软雅黑" panose="020B0503020204020204" charset="-122"/>
              </a:rPr>
              <a:t>、</a:t>
            </a:r>
            <a:r>
              <a:rPr lang="en-US" altLang="en-US" dirty="0" smtClean="0">
                <a:solidFill>
                  <a:schemeClr val="tx1">
                    <a:lumMod val="75000"/>
                    <a:lumOff val="25000"/>
                  </a:schemeClr>
                </a:solidFill>
                <a:latin typeface="微软雅黑" panose="020B0503020204020204" charset="-122"/>
                <a:ea typeface="微软雅黑" panose="020B0503020204020204" charset="-122"/>
              </a:rPr>
              <a:t>#5</a:t>
            </a:r>
            <a:r>
              <a:rPr lang="zh-CN" altLang="en-US" dirty="0" smtClean="0">
                <a:solidFill>
                  <a:schemeClr val="tx1">
                    <a:lumMod val="75000"/>
                    <a:lumOff val="25000"/>
                  </a:schemeClr>
                </a:solidFill>
                <a:latin typeface="微软雅黑" panose="020B0503020204020204" charset="-122"/>
                <a:ea typeface="微软雅黑" panose="020B0503020204020204" charset="-122"/>
              </a:rPr>
              <a:t>四个</a:t>
            </a:r>
            <a:r>
              <a:rPr lang="en-US" altLang="en-US" dirty="0" smtClean="0">
                <a:solidFill>
                  <a:schemeClr val="tx1">
                    <a:lumMod val="75000"/>
                    <a:lumOff val="25000"/>
                  </a:schemeClr>
                </a:solidFill>
                <a:latin typeface="微软雅黑" panose="020B0503020204020204" charset="-122"/>
                <a:ea typeface="微软雅黑" panose="020B0503020204020204" charset="-122"/>
              </a:rPr>
              <a:t>220kV</a:t>
            </a:r>
            <a:r>
              <a:rPr lang="zh-CN" altLang="en-US" dirty="0" smtClean="0">
                <a:solidFill>
                  <a:schemeClr val="tx1">
                    <a:lumMod val="75000"/>
                    <a:lumOff val="25000"/>
                  </a:schemeClr>
                </a:solidFill>
                <a:latin typeface="微软雅黑" panose="020B0503020204020204" charset="-122"/>
                <a:ea typeface="微软雅黑" panose="020B0503020204020204" charset="-122"/>
              </a:rPr>
              <a:t>负荷变电站，其最大负荷容量已由任务书给出。</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a:p>
            <a:r>
              <a:rPr lang="en-US" altLang="en-US" dirty="0" smtClean="0">
                <a:solidFill>
                  <a:schemeClr val="tx1">
                    <a:lumMod val="75000"/>
                    <a:lumOff val="25000"/>
                  </a:schemeClr>
                </a:solidFill>
                <a:latin typeface="微软雅黑" panose="020B0503020204020204" charset="-122"/>
                <a:ea typeface="微软雅黑" panose="020B0503020204020204" charset="-122"/>
              </a:rPr>
              <a:t>3</a:t>
            </a:r>
            <a:r>
              <a:rPr lang="zh-CN" altLang="en-US" dirty="0" smtClean="0">
                <a:solidFill>
                  <a:schemeClr val="tx1">
                    <a:lumMod val="75000"/>
                    <a:lumOff val="25000"/>
                  </a:schemeClr>
                </a:solidFill>
                <a:latin typeface="微软雅黑" panose="020B0503020204020204" charset="-122"/>
                <a:ea typeface="微软雅黑" panose="020B0503020204020204" charset="-122"/>
              </a:rPr>
              <a:t>、发电厂：燃煤发电厂</a:t>
            </a:r>
            <a:r>
              <a:rPr lang="en-US" altLang="en-US" dirty="0" smtClean="0">
                <a:solidFill>
                  <a:schemeClr val="tx1">
                    <a:lumMod val="75000"/>
                    <a:lumOff val="25000"/>
                  </a:schemeClr>
                </a:solidFill>
                <a:latin typeface="微软雅黑" panose="020B0503020204020204" charset="-122"/>
                <a:ea typeface="微软雅黑" panose="020B0503020204020204" charset="-122"/>
              </a:rPr>
              <a:t>G</a:t>
            </a:r>
            <a:r>
              <a:rPr lang="zh-CN" altLang="en-US" dirty="0" smtClean="0">
                <a:solidFill>
                  <a:schemeClr val="tx1">
                    <a:lumMod val="75000"/>
                    <a:lumOff val="25000"/>
                  </a:schemeClr>
                </a:solidFill>
                <a:latin typeface="微软雅黑" panose="020B0503020204020204" charset="-122"/>
                <a:ea typeface="微软雅黑" panose="020B0503020204020204" charset="-122"/>
              </a:rPr>
              <a:t>通过升压变接入</a:t>
            </a:r>
            <a:r>
              <a:rPr lang="en-US" altLang="en-US" dirty="0" smtClean="0">
                <a:solidFill>
                  <a:schemeClr val="tx1">
                    <a:lumMod val="75000"/>
                    <a:lumOff val="25000"/>
                  </a:schemeClr>
                </a:solidFill>
                <a:latin typeface="微软雅黑" panose="020B0503020204020204" charset="-122"/>
                <a:ea typeface="微软雅黑" panose="020B0503020204020204" charset="-122"/>
              </a:rPr>
              <a:t>220kV</a:t>
            </a:r>
            <a:r>
              <a:rPr lang="zh-CN" altLang="en-US" dirty="0" smtClean="0">
                <a:solidFill>
                  <a:schemeClr val="tx1">
                    <a:lumMod val="75000"/>
                    <a:lumOff val="25000"/>
                  </a:schemeClr>
                </a:solidFill>
                <a:latin typeface="微软雅黑" panose="020B0503020204020204" charset="-122"/>
                <a:ea typeface="微软雅黑" panose="020B0503020204020204" charset="-122"/>
              </a:rPr>
              <a:t>电网，在潮流计算中按</a:t>
            </a:r>
            <a:r>
              <a:rPr lang="en-US" altLang="en-US" dirty="0" smtClean="0">
                <a:solidFill>
                  <a:schemeClr val="tx1">
                    <a:lumMod val="75000"/>
                    <a:lumOff val="25000"/>
                  </a:schemeClr>
                </a:solidFill>
                <a:latin typeface="微软雅黑" panose="020B0503020204020204" charset="-122"/>
                <a:ea typeface="微软雅黑" panose="020B0503020204020204" charset="-122"/>
              </a:rPr>
              <a:t>PV</a:t>
            </a:r>
            <a:r>
              <a:rPr lang="zh-CN" altLang="en-US" dirty="0" smtClean="0">
                <a:solidFill>
                  <a:schemeClr val="tx1">
                    <a:lumMod val="75000"/>
                    <a:lumOff val="25000"/>
                  </a:schemeClr>
                </a:solidFill>
                <a:latin typeface="微软雅黑" panose="020B0503020204020204" charset="-122"/>
                <a:ea typeface="微软雅黑" panose="020B0503020204020204" charset="-122"/>
              </a:rPr>
              <a:t>节点处理，高压侧母线电压定值为</a:t>
            </a:r>
            <a:r>
              <a:rPr lang="en-US" altLang="en-US" dirty="0" smtClean="0">
                <a:solidFill>
                  <a:schemeClr val="tx1">
                    <a:lumMod val="75000"/>
                    <a:lumOff val="25000"/>
                  </a:schemeClr>
                </a:solidFill>
                <a:latin typeface="微软雅黑" panose="020B0503020204020204" charset="-122"/>
                <a:ea typeface="微软雅黑" panose="020B0503020204020204" charset="-122"/>
              </a:rPr>
              <a:t>1.05 p.u. (242kV)</a:t>
            </a:r>
            <a:r>
              <a:rPr lang="zh-CN" altLang="en-US" dirty="0" smtClean="0">
                <a:solidFill>
                  <a:schemeClr val="tx1">
                    <a:lumMod val="75000"/>
                    <a:lumOff val="25000"/>
                  </a:schemeClr>
                </a:solidFill>
                <a:latin typeface="微软雅黑" panose="020B0503020204020204" charset="-122"/>
                <a:ea typeface="微软雅黑" panose="020B0503020204020204" charset="-122"/>
              </a:rPr>
              <a:t>。</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a:p>
            <a:r>
              <a:rPr lang="en-US" altLang="en-US" dirty="0" smtClean="0">
                <a:solidFill>
                  <a:schemeClr val="tx1">
                    <a:lumMod val="75000"/>
                    <a:lumOff val="25000"/>
                  </a:schemeClr>
                </a:solidFill>
                <a:latin typeface="微软雅黑" panose="020B0503020204020204" charset="-122"/>
                <a:ea typeface="微软雅黑" panose="020B0503020204020204" charset="-122"/>
              </a:rPr>
              <a:t>4</a:t>
            </a:r>
            <a:r>
              <a:rPr lang="zh-CN" altLang="en-US" dirty="0" smtClean="0">
                <a:solidFill>
                  <a:schemeClr val="tx1">
                    <a:lumMod val="75000"/>
                    <a:lumOff val="25000"/>
                  </a:schemeClr>
                </a:solidFill>
                <a:latin typeface="微软雅黑" panose="020B0503020204020204" charset="-122"/>
                <a:ea typeface="微软雅黑" panose="020B0503020204020204" charset="-122"/>
              </a:rPr>
              <a:t>、网络结构：各变电站之间通过</a:t>
            </a:r>
            <a:r>
              <a:rPr lang="en-US" altLang="en-US" dirty="0" smtClean="0">
                <a:solidFill>
                  <a:schemeClr val="tx1">
                    <a:lumMod val="75000"/>
                    <a:lumOff val="25000"/>
                  </a:schemeClr>
                </a:solidFill>
                <a:latin typeface="微软雅黑" panose="020B0503020204020204" charset="-122"/>
                <a:ea typeface="微软雅黑" panose="020B0503020204020204" charset="-122"/>
              </a:rPr>
              <a:t>220kV</a:t>
            </a:r>
            <a:r>
              <a:rPr lang="zh-CN" altLang="en-US" dirty="0" smtClean="0">
                <a:solidFill>
                  <a:schemeClr val="tx1">
                    <a:lumMod val="75000"/>
                    <a:lumOff val="25000"/>
                  </a:schemeClr>
                </a:solidFill>
                <a:latin typeface="微软雅黑" panose="020B0503020204020204" charset="-122"/>
                <a:ea typeface="微软雅黑" panose="020B0503020204020204" charset="-122"/>
              </a:rPr>
              <a:t>输电线路连接，形成一个环网。这种接线方式提高了供电可靠性，但当某回线路退出运行时，潮流会发生转移，对其它线路的传输能力构成考验。</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a:p>
            <a:r>
              <a:rPr lang="en-US" altLang="zh-CN" dirty="0" smtClean="0">
                <a:solidFill>
                  <a:schemeClr val="tx1">
                    <a:lumMod val="75000"/>
                    <a:lumOff val="25000"/>
                  </a:schemeClr>
                </a:solidFill>
                <a:latin typeface="微软雅黑" panose="020B0503020204020204" charset="-122"/>
                <a:ea typeface="微软雅黑" panose="020B0503020204020204" charset="-122"/>
              </a:rPr>
              <a:t>    </a:t>
            </a:r>
            <a:r>
              <a:rPr lang="zh-CN" altLang="en-US" dirty="0" smtClean="0">
                <a:solidFill>
                  <a:schemeClr val="tx1">
                    <a:lumMod val="75000"/>
                    <a:lumOff val="25000"/>
                  </a:schemeClr>
                </a:solidFill>
                <a:latin typeface="微软雅黑" panose="020B0503020204020204" charset="-122"/>
                <a:ea typeface="微软雅黑" panose="020B0503020204020204" charset="-122"/>
              </a:rPr>
              <a:t>考虑参考</a:t>
            </a:r>
            <a:r>
              <a:rPr lang="en-US" altLang="en-US" dirty="0" smtClean="0">
                <a:solidFill>
                  <a:schemeClr val="tx1">
                    <a:lumMod val="75000"/>
                    <a:lumOff val="25000"/>
                  </a:schemeClr>
                </a:solidFill>
                <a:latin typeface="微软雅黑" panose="020B0503020204020204" charset="-122"/>
                <a:ea typeface="微软雅黑" panose="020B0503020204020204" charset="-122"/>
              </a:rPr>
              <a:t>220kV</a:t>
            </a:r>
            <a:r>
              <a:rPr lang="zh-CN" altLang="en-US" dirty="0" smtClean="0">
                <a:solidFill>
                  <a:schemeClr val="tx1">
                    <a:lumMod val="75000"/>
                    <a:lumOff val="25000"/>
                  </a:schemeClr>
                </a:solidFill>
                <a:latin typeface="微软雅黑" panose="020B0503020204020204" charset="-122"/>
                <a:ea typeface="微软雅黑" panose="020B0503020204020204" charset="-122"/>
              </a:rPr>
              <a:t>系统的分网结构，拟将原发电厂节点作为高压母线节点（</a:t>
            </a:r>
            <a:r>
              <a:rPr lang="en-US" altLang="en-US" dirty="0" smtClean="0">
                <a:solidFill>
                  <a:schemeClr val="tx1">
                    <a:lumMod val="75000"/>
                    <a:lumOff val="25000"/>
                  </a:schemeClr>
                </a:solidFill>
                <a:latin typeface="微软雅黑" panose="020B0503020204020204" charset="-122"/>
                <a:ea typeface="微软雅黑" panose="020B0503020204020204" charset="-122"/>
              </a:rPr>
              <a:t>PQ</a:t>
            </a:r>
            <a:r>
              <a:rPr lang="zh-CN" altLang="en-US" dirty="0" smtClean="0">
                <a:solidFill>
                  <a:schemeClr val="tx1">
                    <a:lumMod val="75000"/>
                    <a:lumOff val="25000"/>
                  </a:schemeClr>
                </a:solidFill>
                <a:latin typeface="微软雅黑" panose="020B0503020204020204" charset="-122"/>
                <a:ea typeface="微软雅黑" panose="020B0503020204020204" charset="-122"/>
              </a:rPr>
              <a:t>），命名为</a:t>
            </a:r>
            <a:r>
              <a:rPr lang="en-US" altLang="en-US" dirty="0" smtClean="0">
                <a:solidFill>
                  <a:schemeClr val="tx1">
                    <a:lumMod val="75000"/>
                    <a:lumOff val="25000"/>
                  </a:schemeClr>
                </a:solidFill>
                <a:latin typeface="微软雅黑" panose="020B0503020204020204" charset="-122"/>
                <a:ea typeface="微软雅黑" panose="020B0503020204020204" charset="-122"/>
              </a:rPr>
              <a:t>6</a:t>
            </a:r>
            <a:r>
              <a:rPr lang="zh-CN" altLang="en-US" dirty="0" smtClean="0">
                <a:solidFill>
                  <a:schemeClr val="tx1">
                    <a:lumMod val="75000"/>
                    <a:lumOff val="25000"/>
                  </a:schemeClr>
                </a:solidFill>
                <a:latin typeface="微软雅黑" panose="020B0503020204020204" charset="-122"/>
                <a:ea typeface="微软雅黑" panose="020B0503020204020204" charset="-122"/>
              </a:rPr>
              <a:t>号节点；另增加一个发电机节点（</a:t>
            </a:r>
            <a:r>
              <a:rPr lang="en-US" altLang="en-US" dirty="0" smtClean="0">
                <a:solidFill>
                  <a:schemeClr val="tx1">
                    <a:lumMod val="75000"/>
                    <a:lumOff val="25000"/>
                  </a:schemeClr>
                </a:solidFill>
                <a:latin typeface="微软雅黑" panose="020B0503020204020204" charset="-122"/>
                <a:ea typeface="微软雅黑" panose="020B0503020204020204" charset="-122"/>
              </a:rPr>
              <a:t>PV</a:t>
            </a:r>
            <a:r>
              <a:rPr lang="zh-CN" altLang="en-US" dirty="0" smtClean="0">
                <a:solidFill>
                  <a:schemeClr val="tx1">
                    <a:lumMod val="75000"/>
                    <a:lumOff val="25000"/>
                  </a:schemeClr>
                </a:solidFill>
                <a:latin typeface="微软雅黑" panose="020B0503020204020204" charset="-122"/>
                <a:ea typeface="微软雅黑" panose="020B0503020204020204" charset="-122"/>
              </a:rPr>
              <a:t>），命名为</a:t>
            </a:r>
            <a:r>
              <a:rPr lang="en-US" altLang="en-US" dirty="0" smtClean="0">
                <a:solidFill>
                  <a:schemeClr val="tx1">
                    <a:lumMod val="75000"/>
                    <a:lumOff val="25000"/>
                  </a:schemeClr>
                </a:solidFill>
                <a:latin typeface="微软雅黑" panose="020B0503020204020204" charset="-122"/>
                <a:ea typeface="微软雅黑" panose="020B0503020204020204" charset="-122"/>
              </a:rPr>
              <a:t>7</a:t>
            </a:r>
            <a:r>
              <a:rPr lang="zh-CN" altLang="en-US" dirty="0" smtClean="0">
                <a:solidFill>
                  <a:schemeClr val="tx1">
                    <a:lumMod val="75000"/>
                    <a:lumOff val="25000"/>
                  </a:schemeClr>
                </a:solidFill>
                <a:latin typeface="微软雅黑" panose="020B0503020204020204" charset="-122"/>
                <a:ea typeface="微软雅黑" panose="020B0503020204020204" charset="-122"/>
              </a:rPr>
              <a:t>号节点；二者连接参数为变压器电抗。</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2426335" y="1234440"/>
            <a:ext cx="7339330" cy="2328545"/>
          </a:xfrm>
          <a:prstGeom prst="rect">
            <a:avLst/>
          </a:prstGeom>
        </p:spPr>
      </p:pic>
      <p:pic>
        <p:nvPicPr>
          <p:cNvPr id="3" name="Picture 2"/>
          <p:cNvPicPr>
            <a:picLocks noChangeAspect="1"/>
          </p:cNvPicPr>
          <p:nvPr/>
        </p:nvPicPr>
        <p:blipFill>
          <a:blip r:embed="rId2"/>
          <a:stretch>
            <a:fillRect/>
          </a:stretch>
        </p:blipFill>
        <p:spPr>
          <a:xfrm>
            <a:off x="2319655" y="4372610"/>
            <a:ext cx="7553325" cy="2333625"/>
          </a:xfrm>
          <a:prstGeom prst="rect">
            <a:avLst/>
          </a:prstGeom>
        </p:spPr>
      </p:pic>
      <p:sp>
        <p:nvSpPr>
          <p:cNvPr id="4" name="Text Box 3"/>
          <p:cNvSpPr txBox="1"/>
          <p:nvPr/>
        </p:nvSpPr>
        <p:spPr>
          <a:xfrm>
            <a:off x="2653665" y="3799205"/>
            <a:ext cx="6884670" cy="337185"/>
          </a:xfrm>
          <a:prstGeom prst="rect">
            <a:avLst/>
          </a:prstGeom>
          <a:noFill/>
        </p:spPr>
        <p:txBody>
          <a:bodyPr wrap="square" rtlCol="0">
            <a:spAutoFit/>
          </a:bodyPr>
          <a:p>
            <a:r>
              <a:rPr lang="zh-CN" altLang="en-US" sz="1600" dirty="0" smtClean="0">
                <a:solidFill>
                  <a:schemeClr val="tx1">
                    <a:lumMod val="75000"/>
                    <a:lumOff val="25000"/>
                  </a:schemeClr>
                </a:solidFill>
                <a:latin typeface="微软雅黑" panose="020B0503020204020204" charset="-122"/>
                <a:ea typeface="微软雅黑" panose="020B0503020204020204" charset="-122"/>
              </a:rPr>
              <a:t>考虑第一章中运行方式的选取，将各节点的负荷设置为</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0.9</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倍的最大负荷。</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5"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电网结构图</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潮流结果计算与分析</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2" name="Picture 1"/>
          <p:cNvPicPr>
            <a:picLocks noChangeAspect="1"/>
          </p:cNvPicPr>
          <p:nvPr/>
        </p:nvPicPr>
        <p:blipFill>
          <a:blip r:embed="rId1"/>
          <a:stretch>
            <a:fillRect/>
          </a:stretch>
        </p:blipFill>
        <p:spPr>
          <a:xfrm>
            <a:off x="569595" y="1913255"/>
            <a:ext cx="7466965" cy="3902710"/>
          </a:xfrm>
          <a:prstGeom prst="rect">
            <a:avLst/>
          </a:prstGeom>
        </p:spPr>
      </p:pic>
      <p:sp>
        <p:nvSpPr>
          <p:cNvPr id="3" name="Text Box 2"/>
          <p:cNvSpPr txBox="1"/>
          <p:nvPr/>
        </p:nvSpPr>
        <p:spPr>
          <a:xfrm>
            <a:off x="569595" y="1285875"/>
            <a:ext cx="4064000" cy="368300"/>
          </a:xfrm>
          <a:prstGeom prst="rect">
            <a:avLst/>
          </a:prstGeom>
          <a:noFill/>
        </p:spPr>
        <p:txBody>
          <a:bodyPr wrap="square" rtlCol="0">
            <a:spAutoFit/>
          </a:bodyPr>
          <a:p>
            <a:r>
              <a:rPr lang="zh-CN" altLang="en-US" dirty="0" smtClean="0">
                <a:solidFill>
                  <a:schemeClr val="tx1">
                    <a:lumMod val="75000"/>
                    <a:lumOff val="25000"/>
                  </a:schemeClr>
                </a:solidFill>
                <a:latin typeface="微软雅黑" panose="020B0503020204020204" charset="-122"/>
                <a:ea typeface="微软雅黑" panose="020B0503020204020204" charset="-122"/>
              </a:rPr>
              <a:t>方式一：晚高峰大负荷运行方式</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5" name="Text Box 4"/>
          <p:cNvSpPr txBox="1"/>
          <p:nvPr/>
        </p:nvSpPr>
        <p:spPr>
          <a:xfrm>
            <a:off x="8322310" y="2145665"/>
            <a:ext cx="3253740" cy="3437255"/>
          </a:xfrm>
          <a:prstGeom prst="rect">
            <a:avLst/>
          </a:prstGeom>
          <a:noFill/>
        </p:spPr>
        <p:txBody>
          <a:bodyPr wrap="square" rtlCol="0">
            <a:noAutofit/>
          </a:bodyPr>
          <a:p>
            <a:r>
              <a:rPr lang="zh-CN" altLang="en-US" sz="1600" dirty="0" smtClean="0">
                <a:solidFill>
                  <a:schemeClr val="tx1">
                    <a:lumMod val="75000"/>
                    <a:lumOff val="25000"/>
                  </a:schemeClr>
                </a:solidFill>
                <a:latin typeface="微软雅黑" panose="020B0503020204020204" charset="-122"/>
                <a:ea typeface="微软雅黑" panose="020B0503020204020204" charset="-122"/>
              </a:rPr>
              <a:t>计算结果表明，该系统在重载情况下所有线路均未超过其热稳定极限，负载最大的线路为节点</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#3→</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节点</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#6</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的双回线路及节点</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#6→</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节点</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#5</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的双回线路，其上传输的视在功率分别为</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245.52MVA</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和</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243.33MVA</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，处于正常范围。</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a:p>
            <a:r>
              <a:rPr lang="zh-CN" altLang="en-US" sz="1600" dirty="0" smtClean="0">
                <a:solidFill>
                  <a:schemeClr val="tx1">
                    <a:lumMod val="75000"/>
                    <a:lumOff val="25000"/>
                  </a:schemeClr>
                </a:solidFill>
                <a:latin typeface="微软雅黑" panose="020B0503020204020204" charset="-122"/>
                <a:ea typeface="微软雅黑" panose="020B0503020204020204" charset="-122"/>
              </a:rPr>
              <a:t>线路线损方面，线损最大的线路为发电厂节点</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#6→</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节点</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#5</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的双回线路，单回无功损耗为</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3.10MVar</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a:p>
            <a:r>
              <a:rPr lang="zh-CN" altLang="en-US" sz="1600" dirty="0" smtClean="0">
                <a:solidFill>
                  <a:schemeClr val="tx1">
                    <a:lumMod val="75000"/>
                    <a:lumOff val="25000"/>
                  </a:schemeClr>
                </a:solidFill>
                <a:latin typeface="微软雅黑" panose="020B0503020204020204" charset="-122"/>
                <a:ea typeface="微软雅黑" panose="020B0503020204020204" charset="-122"/>
              </a:rPr>
              <a:t>可以得出结论：正常大负载运行方式下，该系统的线路和网损处于正常范围。</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潮流结果计算与分析</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Text Box 2"/>
          <p:cNvSpPr txBox="1"/>
          <p:nvPr/>
        </p:nvSpPr>
        <p:spPr>
          <a:xfrm>
            <a:off x="569595" y="1123315"/>
            <a:ext cx="4064000" cy="368300"/>
          </a:xfrm>
          <a:prstGeom prst="rect">
            <a:avLst/>
          </a:prstGeom>
          <a:noFill/>
        </p:spPr>
        <p:txBody>
          <a:bodyPr wrap="square" rtlCol="0">
            <a:spAutoFit/>
          </a:bodyPr>
          <a:p>
            <a:r>
              <a:rPr lang="zh-CN" altLang="en-US" dirty="0" smtClean="0">
                <a:solidFill>
                  <a:schemeClr val="tx1">
                    <a:lumMod val="75000"/>
                    <a:lumOff val="25000"/>
                  </a:schemeClr>
                </a:solidFill>
                <a:latin typeface="微软雅黑" panose="020B0503020204020204" charset="-122"/>
                <a:ea typeface="微软雅黑" panose="020B0503020204020204" charset="-122"/>
              </a:rPr>
              <a:t>方式一：晚高峰大负荷运行方式</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p:txBody>
      </p:sp>
      <p:pic>
        <p:nvPicPr>
          <p:cNvPr id="2" name="Picture 1"/>
          <p:cNvPicPr>
            <a:picLocks noChangeAspect="1"/>
          </p:cNvPicPr>
          <p:nvPr/>
        </p:nvPicPr>
        <p:blipFill>
          <a:blip r:embed="rId1"/>
          <a:stretch>
            <a:fillRect/>
          </a:stretch>
        </p:blipFill>
        <p:spPr>
          <a:xfrm>
            <a:off x="531495" y="1562100"/>
            <a:ext cx="5781675" cy="1659255"/>
          </a:xfrm>
          <a:prstGeom prst="rect">
            <a:avLst/>
          </a:prstGeom>
        </p:spPr>
      </p:pic>
      <p:pic>
        <p:nvPicPr>
          <p:cNvPr id="5" name="Picture 4"/>
          <p:cNvPicPr>
            <a:picLocks noChangeAspect="1"/>
          </p:cNvPicPr>
          <p:nvPr/>
        </p:nvPicPr>
        <p:blipFill>
          <a:blip r:embed="rId2"/>
          <a:stretch>
            <a:fillRect/>
          </a:stretch>
        </p:blipFill>
        <p:spPr>
          <a:xfrm>
            <a:off x="5906135" y="3248025"/>
            <a:ext cx="5750560" cy="1838325"/>
          </a:xfrm>
          <a:prstGeom prst="rect">
            <a:avLst/>
          </a:prstGeom>
        </p:spPr>
      </p:pic>
      <p:sp>
        <p:nvSpPr>
          <p:cNvPr id="6" name="Text Box 5"/>
          <p:cNvSpPr txBox="1"/>
          <p:nvPr/>
        </p:nvSpPr>
        <p:spPr>
          <a:xfrm>
            <a:off x="6442710" y="2253615"/>
            <a:ext cx="4064000" cy="275590"/>
          </a:xfrm>
          <a:prstGeom prst="rect">
            <a:avLst/>
          </a:prstGeom>
          <a:noFill/>
        </p:spPr>
        <p:txBody>
          <a:bodyPr wrap="square" rtlCol="0">
            <a:spAutoFit/>
          </a:bodyPr>
          <a:p>
            <a:r>
              <a:rPr lang="zh-CN" altLang="en-US" sz="1200" dirty="0" smtClean="0">
                <a:solidFill>
                  <a:schemeClr val="tx1">
                    <a:lumMod val="75000"/>
                    <a:lumOff val="25000"/>
                  </a:schemeClr>
                </a:solidFill>
                <a:latin typeface="微软雅黑" panose="020B0503020204020204" charset="-122"/>
                <a:ea typeface="微软雅黑" panose="020B0503020204020204" charset="-122"/>
              </a:rPr>
              <a:t>节点电压结果</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7" name="Text Box 6"/>
          <p:cNvSpPr txBox="1"/>
          <p:nvPr/>
        </p:nvSpPr>
        <p:spPr>
          <a:xfrm>
            <a:off x="4394200" y="4105275"/>
            <a:ext cx="4064000" cy="275590"/>
          </a:xfrm>
          <a:prstGeom prst="rect">
            <a:avLst/>
          </a:prstGeom>
          <a:noFill/>
        </p:spPr>
        <p:txBody>
          <a:bodyPr wrap="square" rtlCol="0">
            <a:spAutoFit/>
          </a:bodyPr>
          <a:p>
            <a:r>
              <a:rPr lang="zh-CN" altLang="en-US" sz="1200" dirty="0" smtClean="0">
                <a:solidFill>
                  <a:schemeClr val="tx1">
                    <a:lumMod val="75000"/>
                    <a:lumOff val="25000"/>
                  </a:schemeClr>
                </a:solidFill>
                <a:latin typeface="微软雅黑" panose="020B0503020204020204" charset="-122"/>
                <a:ea typeface="微软雅黑" panose="020B0503020204020204" charset="-122"/>
              </a:rPr>
              <a:t>节点功率结果</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p:txBody>
      </p:sp>
      <p:pic>
        <p:nvPicPr>
          <p:cNvPr id="8" name="Picture 7"/>
          <p:cNvPicPr>
            <a:picLocks noChangeAspect="1"/>
          </p:cNvPicPr>
          <p:nvPr/>
        </p:nvPicPr>
        <p:blipFill>
          <a:blip r:embed="rId3"/>
          <a:stretch>
            <a:fillRect/>
          </a:stretch>
        </p:blipFill>
        <p:spPr>
          <a:xfrm>
            <a:off x="531495" y="5264785"/>
            <a:ext cx="6486525" cy="781050"/>
          </a:xfrm>
          <a:prstGeom prst="rect">
            <a:avLst/>
          </a:prstGeom>
        </p:spPr>
      </p:pic>
      <p:sp>
        <p:nvSpPr>
          <p:cNvPr id="10" name="Text Box 9"/>
          <p:cNvSpPr txBox="1"/>
          <p:nvPr/>
        </p:nvSpPr>
        <p:spPr>
          <a:xfrm>
            <a:off x="7129145" y="5620385"/>
            <a:ext cx="4064000" cy="275590"/>
          </a:xfrm>
          <a:prstGeom prst="rect">
            <a:avLst/>
          </a:prstGeom>
          <a:noFill/>
        </p:spPr>
        <p:txBody>
          <a:bodyPr wrap="square" rtlCol="0">
            <a:spAutoFit/>
          </a:bodyPr>
          <a:p>
            <a:r>
              <a:rPr lang="zh-CN" altLang="en-US" sz="1200" dirty="0" smtClean="0">
                <a:solidFill>
                  <a:schemeClr val="tx1">
                    <a:lumMod val="75000"/>
                    <a:lumOff val="25000"/>
                  </a:schemeClr>
                </a:solidFill>
                <a:latin typeface="微软雅黑" panose="020B0503020204020204" charset="-122"/>
                <a:ea typeface="微软雅黑" panose="020B0503020204020204" charset="-122"/>
              </a:rPr>
              <a:t>变压器损耗</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潮流结果计算与分析</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 name="Text Box 1"/>
          <p:cNvSpPr txBox="1"/>
          <p:nvPr/>
        </p:nvSpPr>
        <p:spPr>
          <a:xfrm>
            <a:off x="572135" y="1473200"/>
            <a:ext cx="4064000" cy="337185"/>
          </a:xfrm>
          <a:prstGeom prst="rect">
            <a:avLst/>
          </a:prstGeom>
          <a:noFill/>
        </p:spPr>
        <p:txBody>
          <a:bodyPr wrap="square" rtlCol="0">
            <a:spAutoFit/>
          </a:bodyPr>
          <a:p>
            <a:r>
              <a:rPr lang="zh-CN" altLang="en-US" sz="1600" dirty="0" smtClean="0">
                <a:solidFill>
                  <a:schemeClr val="tx1">
                    <a:lumMod val="75000"/>
                    <a:lumOff val="25000"/>
                  </a:schemeClr>
                </a:solidFill>
                <a:latin typeface="微软雅黑" panose="020B0503020204020204" charset="-122"/>
                <a:ea typeface="微软雅黑" panose="020B0503020204020204" charset="-122"/>
              </a:rPr>
              <a:t>方式二：负荷高峰期开环运行方式方式</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p:txBody>
      </p:sp>
      <p:pic>
        <p:nvPicPr>
          <p:cNvPr id="3" name="Picture 2"/>
          <p:cNvPicPr>
            <a:picLocks noChangeAspect="1"/>
          </p:cNvPicPr>
          <p:nvPr/>
        </p:nvPicPr>
        <p:blipFill>
          <a:blip r:embed="rId1"/>
          <a:stretch>
            <a:fillRect/>
          </a:stretch>
        </p:blipFill>
        <p:spPr>
          <a:xfrm>
            <a:off x="822325" y="2628265"/>
            <a:ext cx="6496050" cy="2962275"/>
          </a:xfrm>
          <a:prstGeom prst="rect">
            <a:avLst/>
          </a:prstGeom>
        </p:spPr>
      </p:pic>
      <p:sp>
        <p:nvSpPr>
          <p:cNvPr id="5" name="Text Box 4"/>
          <p:cNvSpPr txBox="1"/>
          <p:nvPr/>
        </p:nvSpPr>
        <p:spPr>
          <a:xfrm>
            <a:off x="7595870" y="2217420"/>
            <a:ext cx="4064000" cy="3784600"/>
          </a:xfrm>
          <a:prstGeom prst="rect">
            <a:avLst/>
          </a:prstGeom>
          <a:noFill/>
        </p:spPr>
        <p:txBody>
          <a:bodyPr wrap="square" rtlCol="0">
            <a:spAutoFit/>
          </a:bodyPr>
          <a:p>
            <a:r>
              <a:rPr lang="zh-CN" altLang="en-US" sz="1600" dirty="0" smtClean="0">
                <a:solidFill>
                  <a:schemeClr val="tx1">
                    <a:lumMod val="75000"/>
                    <a:lumOff val="25000"/>
                  </a:schemeClr>
                </a:solidFill>
                <a:latin typeface="微软雅黑" panose="020B0503020204020204" charset="-122"/>
                <a:ea typeface="微软雅黑" panose="020B0503020204020204" charset="-122"/>
              </a:rPr>
              <a:t>功率分布及线路潮流分析：当</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#6-#5</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线路断开后，原本由其输送的约</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380MW</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的有功功率，</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300MVar</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的无功功率转移至另一回连接</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#6</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站的线路上（</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#6-#3</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a:p>
            <a:r>
              <a:rPr lang="zh-CN" altLang="en-US" sz="1600" dirty="0" smtClean="0">
                <a:solidFill>
                  <a:schemeClr val="tx1">
                    <a:lumMod val="75000"/>
                    <a:lumOff val="25000"/>
                  </a:schemeClr>
                </a:solidFill>
                <a:latin typeface="微软雅黑" panose="020B0503020204020204" charset="-122"/>
                <a:ea typeface="微软雅黑" panose="020B0503020204020204" charset="-122"/>
              </a:rPr>
              <a:t>此时发电厂</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G</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仍然满发，仅通过一条出线向系统输送功率。</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a:p>
            <a:r>
              <a:rPr lang="zh-CN" altLang="en-US" sz="1600" dirty="0" smtClean="0">
                <a:solidFill>
                  <a:schemeClr val="tx1">
                    <a:lumMod val="75000"/>
                    <a:lumOff val="25000"/>
                  </a:schemeClr>
                </a:solidFill>
                <a:latin typeface="微软雅黑" panose="020B0503020204020204" charset="-122"/>
                <a:ea typeface="微软雅黑" panose="020B0503020204020204" charset="-122"/>
              </a:rPr>
              <a:t>同时该区域发电厂的无功输出能力仍不足以支撑该运行方式下的无功需求。计算结果显示，</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#6-#3</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线路的传输功率高达</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477.75MVA</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，已超出其热稳定极限（</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453.4MVA</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），严重过载，不可长时间保持运行。</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a:p>
            <a:r>
              <a:rPr lang="zh-CN" altLang="en-US" sz="1600" dirty="0" smtClean="0">
                <a:solidFill>
                  <a:schemeClr val="tx1">
                    <a:lumMod val="75000"/>
                    <a:lumOff val="25000"/>
                  </a:schemeClr>
                </a:solidFill>
                <a:latin typeface="微软雅黑" panose="020B0503020204020204" charset="-122"/>
                <a:ea typeface="微软雅黑" panose="020B0503020204020204" charset="-122"/>
              </a:rPr>
              <a:t>同时，网络结构的变化导致潮流分布不均，部分线路功率方向发生改变，系统运行在非常危险的边缘。</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72135" y="1035685"/>
            <a:ext cx="4064000" cy="337185"/>
          </a:xfrm>
          <a:prstGeom prst="rect">
            <a:avLst/>
          </a:prstGeom>
          <a:noFill/>
        </p:spPr>
        <p:txBody>
          <a:bodyPr wrap="square" rtlCol="0">
            <a:spAutoFit/>
          </a:bodyPr>
          <a:p>
            <a:r>
              <a:rPr lang="zh-CN" altLang="en-US" sz="1600" dirty="0" smtClean="0">
                <a:solidFill>
                  <a:schemeClr val="tx1">
                    <a:lumMod val="75000"/>
                    <a:lumOff val="25000"/>
                  </a:schemeClr>
                </a:solidFill>
                <a:latin typeface="微软雅黑" panose="020B0503020204020204" charset="-122"/>
                <a:ea typeface="微软雅黑" panose="020B0503020204020204" charset="-122"/>
              </a:rPr>
              <a:t>方式二：负荷高峰期开环运行方式方式</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潮流结果计算与分析</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3" name="Picture 2"/>
          <p:cNvPicPr>
            <a:picLocks noChangeAspect="1"/>
          </p:cNvPicPr>
          <p:nvPr/>
        </p:nvPicPr>
        <p:blipFill>
          <a:blip r:embed="rId1"/>
          <a:stretch>
            <a:fillRect/>
          </a:stretch>
        </p:blipFill>
        <p:spPr>
          <a:xfrm>
            <a:off x="497205" y="1372870"/>
            <a:ext cx="6534150" cy="2095500"/>
          </a:xfrm>
          <a:prstGeom prst="rect">
            <a:avLst/>
          </a:prstGeom>
        </p:spPr>
      </p:pic>
      <p:pic>
        <p:nvPicPr>
          <p:cNvPr id="5" name="Picture 4"/>
          <p:cNvPicPr>
            <a:picLocks noChangeAspect="1"/>
          </p:cNvPicPr>
          <p:nvPr/>
        </p:nvPicPr>
        <p:blipFill>
          <a:blip r:embed="rId2"/>
          <a:stretch>
            <a:fillRect/>
          </a:stretch>
        </p:blipFill>
        <p:spPr>
          <a:xfrm>
            <a:off x="4984115" y="3468370"/>
            <a:ext cx="6496050" cy="1876425"/>
          </a:xfrm>
          <a:prstGeom prst="rect">
            <a:avLst/>
          </a:prstGeom>
        </p:spPr>
      </p:pic>
      <p:pic>
        <p:nvPicPr>
          <p:cNvPr id="6" name="Picture 5"/>
          <p:cNvPicPr>
            <a:picLocks noChangeAspect="1"/>
          </p:cNvPicPr>
          <p:nvPr/>
        </p:nvPicPr>
        <p:blipFill>
          <a:blip r:embed="rId3"/>
          <a:stretch>
            <a:fillRect/>
          </a:stretch>
        </p:blipFill>
        <p:spPr>
          <a:xfrm>
            <a:off x="497205" y="5485130"/>
            <a:ext cx="6486525" cy="742950"/>
          </a:xfrm>
          <a:prstGeom prst="rect">
            <a:avLst/>
          </a:prstGeom>
        </p:spPr>
      </p:pic>
      <p:sp>
        <p:nvSpPr>
          <p:cNvPr id="7" name="Text Box 6"/>
          <p:cNvSpPr txBox="1"/>
          <p:nvPr/>
        </p:nvSpPr>
        <p:spPr>
          <a:xfrm>
            <a:off x="7542530" y="2334895"/>
            <a:ext cx="4064000" cy="275590"/>
          </a:xfrm>
          <a:prstGeom prst="rect">
            <a:avLst/>
          </a:prstGeom>
          <a:noFill/>
        </p:spPr>
        <p:txBody>
          <a:bodyPr wrap="square" rtlCol="0">
            <a:spAutoFit/>
          </a:bodyPr>
          <a:p>
            <a:r>
              <a:rPr lang="zh-CN" altLang="en-US" sz="1200" dirty="0" smtClean="0">
                <a:solidFill>
                  <a:schemeClr val="tx1">
                    <a:lumMod val="75000"/>
                    <a:lumOff val="25000"/>
                  </a:schemeClr>
                </a:solidFill>
                <a:latin typeface="微软雅黑" panose="020B0503020204020204" charset="-122"/>
                <a:ea typeface="微软雅黑" panose="020B0503020204020204" charset="-122"/>
              </a:rPr>
              <a:t>节点功率结果</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8" name="Text Box 7"/>
          <p:cNvSpPr txBox="1"/>
          <p:nvPr/>
        </p:nvSpPr>
        <p:spPr>
          <a:xfrm>
            <a:off x="3918585" y="4396105"/>
            <a:ext cx="4064000" cy="275590"/>
          </a:xfrm>
          <a:prstGeom prst="rect">
            <a:avLst/>
          </a:prstGeom>
          <a:noFill/>
        </p:spPr>
        <p:txBody>
          <a:bodyPr wrap="square" rtlCol="0">
            <a:spAutoFit/>
          </a:bodyPr>
          <a:p>
            <a:r>
              <a:rPr lang="zh-CN" altLang="en-US" sz="1200" dirty="0" smtClean="0">
                <a:solidFill>
                  <a:schemeClr val="tx1">
                    <a:lumMod val="75000"/>
                    <a:lumOff val="25000"/>
                  </a:schemeClr>
                </a:solidFill>
                <a:latin typeface="微软雅黑" panose="020B0503020204020204" charset="-122"/>
                <a:ea typeface="微软雅黑" panose="020B0503020204020204" charset="-122"/>
              </a:rPr>
              <a:t>节点电压结果</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9" name="Text Box 8"/>
          <p:cNvSpPr txBox="1"/>
          <p:nvPr/>
        </p:nvSpPr>
        <p:spPr>
          <a:xfrm>
            <a:off x="7278370" y="5718810"/>
            <a:ext cx="4064000" cy="275590"/>
          </a:xfrm>
          <a:prstGeom prst="rect">
            <a:avLst/>
          </a:prstGeom>
          <a:noFill/>
        </p:spPr>
        <p:txBody>
          <a:bodyPr wrap="square" rtlCol="0">
            <a:spAutoFit/>
          </a:bodyPr>
          <a:p>
            <a:r>
              <a:rPr lang="zh-CN" altLang="en-US" sz="1200" dirty="0" smtClean="0">
                <a:solidFill>
                  <a:schemeClr val="tx1">
                    <a:lumMod val="75000"/>
                    <a:lumOff val="25000"/>
                  </a:schemeClr>
                </a:solidFill>
                <a:latin typeface="微软雅黑" panose="020B0503020204020204" charset="-122"/>
                <a:ea typeface="微软雅黑" panose="020B0503020204020204" charset="-122"/>
              </a:rPr>
              <a:t>变压器损耗</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基于</a:t>
            </a:r>
            <a:r>
              <a:rPr kumimoji="0" lang="en-US"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DSP</a:t>
            </a: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软件的潮流计算与结果比较</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21" name="图片 17"/>
          <p:cNvPicPr>
            <a:picLocks noChangeAspect="1"/>
          </p:cNvPicPr>
          <p:nvPr/>
        </p:nvPicPr>
        <p:blipFill>
          <a:blip r:embed="rId1"/>
          <a:stretch>
            <a:fillRect/>
          </a:stretch>
        </p:blipFill>
        <p:spPr>
          <a:xfrm>
            <a:off x="525145" y="1374140"/>
            <a:ext cx="5351145" cy="4657090"/>
          </a:xfrm>
          <a:prstGeom prst="rect">
            <a:avLst/>
          </a:prstGeom>
          <a:noFill/>
          <a:ln>
            <a:noFill/>
          </a:ln>
        </p:spPr>
      </p:pic>
      <p:pic>
        <p:nvPicPr>
          <p:cNvPr id="2" name="图片 1" descr="a4c0ef4484c0372034ae2161f8b0cda7"/>
          <p:cNvPicPr>
            <a:picLocks noChangeAspect="1"/>
          </p:cNvPicPr>
          <p:nvPr/>
        </p:nvPicPr>
        <p:blipFill>
          <a:blip r:embed="rId2"/>
          <a:stretch>
            <a:fillRect/>
          </a:stretch>
        </p:blipFill>
        <p:spPr>
          <a:xfrm>
            <a:off x="5876290" y="2131060"/>
            <a:ext cx="5684520" cy="2846070"/>
          </a:xfrm>
          <a:prstGeom prst="rect">
            <a:avLst/>
          </a:prstGeom>
        </p:spPr>
      </p:pic>
      <p:sp>
        <p:nvSpPr>
          <p:cNvPr id="3" name="Text Box 2"/>
          <p:cNvSpPr txBox="1"/>
          <p:nvPr/>
        </p:nvSpPr>
        <p:spPr>
          <a:xfrm>
            <a:off x="6280785" y="1660525"/>
            <a:ext cx="4064000" cy="368300"/>
          </a:xfrm>
          <a:prstGeom prst="rect">
            <a:avLst/>
          </a:prstGeom>
          <a:noFill/>
        </p:spPr>
        <p:txBody>
          <a:bodyPr wrap="square" rtlCol="0">
            <a:spAutoFit/>
          </a:bodyPr>
          <a:p>
            <a:r>
              <a:rPr lang="zh-CN" altLang="en-US" dirty="0" smtClean="0">
                <a:solidFill>
                  <a:schemeClr val="tx1">
                    <a:lumMod val="75000"/>
                    <a:lumOff val="25000"/>
                  </a:schemeClr>
                </a:solidFill>
                <a:latin typeface="微软雅黑" panose="020B0503020204020204" charset="-122"/>
                <a:ea typeface="微软雅黑" panose="020B0503020204020204" charset="-122"/>
              </a:rPr>
              <a:t>方式一的</a:t>
            </a:r>
            <a:r>
              <a:rPr lang="en-US" altLang="zh-CN" dirty="0" smtClean="0">
                <a:solidFill>
                  <a:schemeClr val="tx1">
                    <a:lumMod val="75000"/>
                    <a:lumOff val="25000"/>
                  </a:schemeClr>
                </a:solidFill>
                <a:latin typeface="微软雅黑" panose="020B0503020204020204" charset="-122"/>
                <a:ea typeface="微软雅黑" panose="020B0503020204020204" charset="-122"/>
              </a:rPr>
              <a:t>DSP</a:t>
            </a:r>
            <a:r>
              <a:rPr lang="zh-CN" altLang="en-US" dirty="0" smtClean="0">
                <a:solidFill>
                  <a:schemeClr val="tx1">
                    <a:lumMod val="75000"/>
                    <a:lumOff val="25000"/>
                  </a:schemeClr>
                </a:solidFill>
                <a:latin typeface="微软雅黑" panose="020B0503020204020204" charset="-122"/>
                <a:ea typeface="微软雅黑" panose="020B0503020204020204" charset="-122"/>
              </a:rPr>
              <a:t>潮流计算代码及其潮流图</a:t>
            </a:r>
            <a:endParaRPr lang="zh-CN" altLang="en-US" dirty="0" smtClean="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664210" y="1165860"/>
            <a:ext cx="5262880" cy="5187315"/>
          </a:xfrm>
          <a:prstGeom prst="rect">
            <a:avLst/>
          </a:prstGeom>
        </p:spPr>
      </p:pic>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基于</a:t>
            </a:r>
            <a:r>
              <a:rPr kumimoji="0" lang="en-US"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DSP</a:t>
            </a: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软件的潮流计算与结果比较</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3" name="Picture 2"/>
          <p:cNvPicPr>
            <a:picLocks noChangeAspect="1"/>
          </p:cNvPicPr>
          <p:nvPr/>
        </p:nvPicPr>
        <p:blipFill>
          <a:blip r:embed="rId2"/>
          <a:stretch>
            <a:fillRect/>
          </a:stretch>
        </p:blipFill>
        <p:spPr>
          <a:xfrm>
            <a:off x="5927090" y="1165860"/>
            <a:ext cx="5934075" cy="1895475"/>
          </a:xfrm>
          <a:prstGeom prst="rect">
            <a:avLst/>
          </a:prstGeom>
        </p:spPr>
      </p:pic>
      <p:pic>
        <p:nvPicPr>
          <p:cNvPr id="5" name="Picture 4"/>
          <p:cNvPicPr>
            <a:picLocks noChangeAspect="1"/>
          </p:cNvPicPr>
          <p:nvPr/>
        </p:nvPicPr>
        <p:blipFill>
          <a:blip r:embed="rId3"/>
          <a:stretch>
            <a:fillRect/>
          </a:stretch>
        </p:blipFill>
        <p:spPr>
          <a:xfrm>
            <a:off x="5946140" y="3136265"/>
            <a:ext cx="5915025" cy="2286000"/>
          </a:xfrm>
          <a:prstGeom prst="rect">
            <a:avLst/>
          </a:prstGeom>
        </p:spPr>
      </p:pic>
      <p:sp>
        <p:nvSpPr>
          <p:cNvPr id="6" name="Text Box 5"/>
          <p:cNvSpPr txBox="1"/>
          <p:nvPr/>
        </p:nvSpPr>
        <p:spPr>
          <a:xfrm>
            <a:off x="6096635" y="5496560"/>
            <a:ext cx="5765165" cy="1014730"/>
          </a:xfrm>
          <a:prstGeom prst="rect">
            <a:avLst/>
          </a:prstGeom>
          <a:noFill/>
        </p:spPr>
        <p:txBody>
          <a:bodyPr wrap="square" rtlCol="0">
            <a:spAutoFit/>
          </a:bodyPr>
          <a:p>
            <a:r>
              <a:rPr lang="en-US" altLang="en-US" sz="1200" dirty="0" smtClean="0">
                <a:solidFill>
                  <a:schemeClr val="tx1">
                    <a:lumMod val="75000"/>
                    <a:lumOff val="25000"/>
                  </a:schemeClr>
                </a:solidFill>
                <a:latin typeface="微软雅黑" panose="020B0503020204020204" charset="-122"/>
                <a:ea typeface="微软雅黑" panose="020B0503020204020204" charset="-122"/>
              </a:rPr>
              <a:t>1</a:t>
            </a:r>
            <a:r>
              <a:rPr lang="zh-CN" altLang="en-US" sz="1200" dirty="0" smtClean="0">
                <a:solidFill>
                  <a:schemeClr val="tx1">
                    <a:lumMod val="75000"/>
                    <a:lumOff val="25000"/>
                  </a:schemeClr>
                </a:solidFill>
                <a:latin typeface="微软雅黑" panose="020B0503020204020204" charset="-122"/>
                <a:ea typeface="微软雅黑" panose="020B0503020204020204" charset="-122"/>
              </a:rPr>
              <a:t>、高度一致性：对于方式一，两种工具计算得到的节点电压幅值、相角以及线路潮流的绝对误差非常小。电压误差在</a:t>
            </a:r>
            <a:r>
              <a:rPr lang="en-US" altLang="en-US" sz="1200" dirty="0" smtClean="0">
                <a:solidFill>
                  <a:schemeClr val="tx1">
                    <a:lumMod val="75000"/>
                    <a:lumOff val="25000"/>
                  </a:schemeClr>
                </a:solidFill>
                <a:latin typeface="微软雅黑" panose="020B0503020204020204" charset="-122"/>
                <a:ea typeface="微软雅黑" panose="020B0503020204020204" charset="-122"/>
              </a:rPr>
              <a:t>0.01 kV</a:t>
            </a:r>
            <a:r>
              <a:rPr lang="zh-CN" altLang="en-US" sz="1200" dirty="0" smtClean="0">
                <a:solidFill>
                  <a:schemeClr val="tx1">
                    <a:lumMod val="75000"/>
                    <a:lumOff val="25000"/>
                  </a:schemeClr>
                </a:solidFill>
                <a:latin typeface="微软雅黑" panose="020B0503020204020204" charset="-122"/>
                <a:ea typeface="微软雅黑" panose="020B0503020204020204" charset="-122"/>
              </a:rPr>
              <a:t>以内，相角误差在</a:t>
            </a:r>
            <a:r>
              <a:rPr lang="en-US" altLang="en-US" sz="1200" dirty="0" smtClean="0">
                <a:solidFill>
                  <a:schemeClr val="tx1">
                    <a:lumMod val="75000"/>
                    <a:lumOff val="25000"/>
                  </a:schemeClr>
                </a:solidFill>
                <a:latin typeface="微软雅黑" panose="020B0503020204020204" charset="-122"/>
                <a:ea typeface="微软雅黑" panose="020B0503020204020204" charset="-122"/>
              </a:rPr>
              <a:t>0.01</a:t>
            </a:r>
            <a:r>
              <a:rPr lang="en-US" altLang="en-US" sz="1200" dirty="0" smtClean="0">
                <a:solidFill>
                  <a:schemeClr val="tx1">
                    <a:lumMod val="75000"/>
                    <a:lumOff val="25000"/>
                  </a:schemeClr>
                </a:solidFill>
                <a:latin typeface="微软雅黑" panose="020B0503020204020204" charset="-122"/>
                <a:ea typeface="微软雅黑" panose="020B0503020204020204" charset="-122"/>
              </a:rPr>
              <a:t>°</a:t>
            </a:r>
            <a:r>
              <a:rPr lang="zh-CN" altLang="en-US" sz="1200" dirty="0" smtClean="0">
                <a:solidFill>
                  <a:schemeClr val="tx1">
                    <a:lumMod val="75000"/>
                    <a:lumOff val="25000"/>
                  </a:schemeClr>
                </a:solidFill>
                <a:latin typeface="微软雅黑" panose="020B0503020204020204" charset="-122"/>
                <a:ea typeface="微软雅黑" panose="020B0503020204020204" charset="-122"/>
              </a:rPr>
              <a:t>以内，线路功率误差在</a:t>
            </a:r>
            <a:r>
              <a:rPr lang="en-US" altLang="en-US" sz="1200" dirty="0" smtClean="0">
                <a:solidFill>
                  <a:schemeClr val="tx1">
                    <a:lumMod val="75000"/>
                    <a:lumOff val="25000"/>
                  </a:schemeClr>
                </a:solidFill>
                <a:latin typeface="微软雅黑" panose="020B0503020204020204" charset="-122"/>
                <a:ea typeface="微软雅黑" panose="020B0503020204020204" charset="-122"/>
              </a:rPr>
              <a:t>1 MW</a:t>
            </a:r>
            <a:r>
              <a:rPr lang="zh-CN" altLang="en-US" sz="1200" dirty="0" smtClean="0">
                <a:solidFill>
                  <a:schemeClr val="tx1">
                    <a:lumMod val="75000"/>
                    <a:lumOff val="25000"/>
                  </a:schemeClr>
                </a:solidFill>
                <a:latin typeface="微软雅黑" panose="020B0503020204020204" charset="-122"/>
                <a:ea typeface="微软雅黑" panose="020B0503020204020204" charset="-122"/>
              </a:rPr>
              <a:t>以内（相对于数百</a:t>
            </a:r>
            <a:r>
              <a:rPr lang="en-US" altLang="en-US" sz="1200" dirty="0" smtClean="0">
                <a:solidFill>
                  <a:schemeClr val="tx1">
                    <a:lumMod val="75000"/>
                    <a:lumOff val="25000"/>
                  </a:schemeClr>
                </a:solidFill>
                <a:latin typeface="微软雅黑" panose="020B0503020204020204" charset="-122"/>
                <a:ea typeface="微软雅黑" panose="020B0503020204020204" charset="-122"/>
              </a:rPr>
              <a:t>MW</a:t>
            </a:r>
            <a:r>
              <a:rPr lang="zh-CN" altLang="en-US" sz="1200" dirty="0" smtClean="0">
                <a:solidFill>
                  <a:schemeClr val="tx1">
                    <a:lumMod val="75000"/>
                    <a:lumOff val="25000"/>
                  </a:schemeClr>
                </a:solidFill>
                <a:latin typeface="微软雅黑" panose="020B0503020204020204" charset="-122"/>
                <a:ea typeface="微软雅黑" panose="020B0503020204020204" charset="-122"/>
              </a:rPr>
              <a:t>的潮流，误差率低于</a:t>
            </a:r>
            <a:r>
              <a:rPr lang="en-US" altLang="en-US" sz="1200" dirty="0" smtClean="0">
                <a:solidFill>
                  <a:schemeClr val="tx1">
                    <a:lumMod val="75000"/>
                    <a:lumOff val="25000"/>
                  </a:schemeClr>
                </a:solidFill>
                <a:latin typeface="微软雅黑" panose="020B0503020204020204" charset="-122"/>
                <a:ea typeface="微软雅黑" panose="020B0503020204020204" charset="-122"/>
              </a:rPr>
              <a:t>0.5%</a:t>
            </a:r>
            <a:r>
              <a:rPr lang="zh-CN" altLang="en-US" sz="1200" dirty="0" smtClean="0">
                <a:solidFill>
                  <a:schemeClr val="tx1">
                    <a:lumMod val="75000"/>
                    <a:lumOff val="25000"/>
                  </a:schemeClr>
                </a:solidFill>
                <a:latin typeface="微软雅黑" panose="020B0503020204020204" charset="-122"/>
                <a:ea typeface="微软雅黑" panose="020B0503020204020204" charset="-122"/>
              </a:rPr>
              <a:t>）。</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a:p>
            <a:r>
              <a:rPr lang="en-US" altLang="en-US" sz="1200" dirty="0" smtClean="0">
                <a:solidFill>
                  <a:schemeClr val="tx1">
                    <a:lumMod val="75000"/>
                    <a:lumOff val="25000"/>
                  </a:schemeClr>
                </a:solidFill>
                <a:latin typeface="微软雅黑" panose="020B0503020204020204" charset="-122"/>
                <a:ea typeface="微软雅黑" panose="020B0503020204020204" charset="-122"/>
              </a:rPr>
              <a:t>2</a:t>
            </a:r>
            <a:r>
              <a:rPr lang="zh-CN" altLang="en-US" sz="1200" dirty="0" smtClean="0">
                <a:solidFill>
                  <a:schemeClr val="tx1">
                    <a:lumMod val="75000"/>
                    <a:lumOff val="25000"/>
                  </a:schemeClr>
                </a:solidFill>
                <a:latin typeface="微软雅黑" panose="020B0503020204020204" charset="-122"/>
                <a:ea typeface="微软雅黑" panose="020B0503020204020204" charset="-122"/>
              </a:rPr>
              <a:t>、趋势完全相同：两种方式下，</a:t>
            </a:r>
            <a:r>
              <a:rPr lang="en-US" altLang="en-US" sz="1200" dirty="0" smtClean="0">
                <a:solidFill>
                  <a:schemeClr val="tx1">
                    <a:lumMod val="75000"/>
                    <a:lumOff val="25000"/>
                  </a:schemeClr>
                </a:solidFill>
                <a:latin typeface="微软雅黑" panose="020B0503020204020204" charset="-122"/>
                <a:ea typeface="微软雅黑" panose="020B0503020204020204" charset="-122"/>
              </a:rPr>
              <a:t>DSP</a:t>
            </a:r>
            <a:r>
              <a:rPr lang="zh-CN" altLang="en-US" sz="1200" dirty="0" smtClean="0">
                <a:solidFill>
                  <a:schemeClr val="tx1">
                    <a:lumMod val="75000"/>
                    <a:lumOff val="25000"/>
                  </a:schemeClr>
                </a:solidFill>
                <a:latin typeface="微软雅黑" panose="020B0503020204020204" charset="-122"/>
                <a:ea typeface="微软雅黑" panose="020B0503020204020204" charset="-122"/>
              </a:rPr>
              <a:t>软件的计算结果均清晰地复现了自编程序所揭示的系统特性。</a:t>
            </a:r>
            <a:endParaRPr lang="zh-CN" altLang="en-US" sz="1200" dirty="0" smtClean="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暂态稳定计算故障集的合理选择</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2" name="组合 1"/>
          <p:cNvGrpSpPr/>
          <p:nvPr>
            <p:custDataLst>
              <p:tags r:id="rId1"/>
            </p:custDataLst>
          </p:nvPr>
        </p:nvGrpSpPr>
        <p:grpSpPr>
          <a:xfrm>
            <a:off x="523066" y="1288584"/>
            <a:ext cx="3837940" cy="6575425"/>
            <a:chOff x="901526" y="2973239"/>
            <a:chExt cx="3837940" cy="6575425"/>
          </a:xfrm>
        </p:grpSpPr>
        <p:sp>
          <p:nvSpPr>
            <p:cNvPr id="10" name="TextBox 3"/>
            <p:cNvSpPr txBox="1"/>
            <p:nvPr>
              <p:custDataLst>
                <p:tags r:id="rId2"/>
              </p:custDataLst>
            </p:nvPr>
          </p:nvSpPr>
          <p:spPr>
            <a:xfrm>
              <a:off x="1094566" y="2973239"/>
              <a:ext cx="2990850" cy="685800"/>
            </a:xfrm>
            <a:prstGeom prst="rect">
              <a:avLst/>
            </a:prstGeom>
          </p:spPr>
          <p:txBody>
            <a:bodyPr vert="horz" wrap="square" lIns="123825" tIns="123825" rIns="57150" bIns="123825" rtlCol="0" anchor="ctr" anchorCtr="0">
              <a:noAutofit/>
            </a:bodyPr>
            <a:lstStyle/>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重合闸于单相</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永久性故障</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 name="TextBox 4"/>
            <p:cNvSpPr txBox="1"/>
            <p:nvPr>
              <p:custDataLst>
                <p:tags r:id="rId3"/>
              </p:custDataLst>
            </p:nvPr>
          </p:nvSpPr>
          <p:spPr>
            <a:xfrm>
              <a:off x="901526" y="4274354"/>
              <a:ext cx="3837940" cy="5274310"/>
            </a:xfrm>
            <a:prstGeom prst="rect">
              <a:avLst/>
            </a:prstGeom>
          </p:spPr>
          <p:txBody>
            <a:bodyPr vert="horz" wrap="square" lIns="123825" tIns="123825" rIns="57150" bIns="123825" rtlCol="0" anchor="t" anchorCtr="0">
              <a:noAutofit/>
            </a:bodyPr>
            <a:lstStyle/>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本设计首先设置了一个包含自动重合闸过程的线路单相永久性短路故障，以模拟实际系统中最为复杂的故障场景之一。该故障发生于连接母线</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#5</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与</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#6</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的线路上，其过程通过一系列连续的</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LS</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卡（</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MDE=9</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）进行精确模拟：故障起始于</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10</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周波，在</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#5</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侧发生</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A</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相单相接地短路；</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5</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周波后（</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15</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周波），短路被清除，但同时该相线路两侧断路器跳开，实现单相隔离；经过一段延时，模拟自动重合闸动作，于</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60</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周波重新合上故障相；由于故障点为永久性，重合闸动作等同于线路再次遭遇</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A</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相短路；系统最终在</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65</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周波彻底切除故障并执行三相永久跳闸。</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p:txBody>
        </p:sp>
      </p:grpSp>
      <p:grpSp>
        <p:nvGrpSpPr>
          <p:cNvPr id="3" name="组合 2"/>
          <p:cNvGrpSpPr/>
          <p:nvPr>
            <p:custDataLst>
              <p:tags r:id="rId4"/>
            </p:custDataLst>
          </p:nvPr>
        </p:nvGrpSpPr>
        <p:grpSpPr>
          <a:xfrm>
            <a:off x="4361113" y="1288584"/>
            <a:ext cx="3194050" cy="4709795"/>
            <a:chOff x="4743383" y="2973239"/>
            <a:chExt cx="3194050" cy="4709795"/>
          </a:xfrm>
        </p:grpSpPr>
        <p:sp>
          <p:nvSpPr>
            <p:cNvPr id="12" name="TextBox 5"/>
            <p:cNvSpPr txBox="1"/>
            <p:nvPr>
              <p:custDataLst>
                <p:tags r:id="rId5"/>
              </p:custDataLst>
            </p:nvPr>
          </p:nvSpPr>
          <p:spPr>
            <a:xfrm>
              <a:off x="4743524" y="2973239"/>
              <a:ext cx="2990850" cy="685800"/>
            </a:xfrm>
            <a:prstGeom prst="rect">
              <a:avLst/>
            </a:prstGeom>
          </p:spPr>
          <p:txBody>
            <a:bodyPr vert="horz" wrap="square" lIns="123825" tIns="123825" rIns="57150" bIns="123825" rtlCol="0" anchor="ctr" anchorCtr="0">
              <a:noAutofit/>
            </a:bodyPr>
            <a:lstStyle/>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线路中间点</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三相短路故障</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 name="TextBox 6"/>
            <p:cNvSpPr txBox="1"/>
            <p:nvPr>
              <p:custDataLst>
                <p:tags r:id="rId6"/>
              </p:custDataLst>
            </p:nvPr>
          </p:nvSpPr>
          <p:spPr>
            <a:xfrm>
              <a:off x="4743383" y="4441994"/>
              <a:ext cx="3194050" cy="3241040"/>
            </a:xfrm>
            <a:prstGeom prst="rect">
              <a:avLst/>
            </a:prstGeom>
          </p:spPr>
          <p:txBody>
            <a:bodyPr vert="horz" wrap="square" lIns="123825" tIns="123825" rIns="57150" bIns="123825" rtlCol="0" anchor="t" anchorCtr="0">
              <a:noAutofit/>
            </a:bodyPr>
            <a:lstStyle/>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本设计设置了线路中间点三相短路故障。该故障设定在线路</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#5</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至</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#6</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距离</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#5</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侧</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10%</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处，于</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25</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周波发生三相金属性短路（</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MDE=9, NDE=3</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），并在</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36</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周波被成功切除。与母线出口短路相比，线路中间点短路时，短路电流流经了部分线路阻抗，其数值有所减小，但其电气位置的改变会使得系统中各发电机的摇摆特性和相互作用的模式发生变化。</a:t>
              </a:r>
              <a:endParaRPr 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p:txBody>
        </p:sp>
      </p:grpSp>
      <p:grpSp>
        <p:nvGrpSpPr>
          <p:cNvPr id="5" name="组合 4"/>
          <p:cNvGrpSpPr/>
          <p:nvPr>
            <p:custDataLst>
              <p:tags r:id="rId7"/>
            </p:custDataLst>
          </p:nvPr>
        </p:nvGrpSpPr>
        <p:grpSpPr>
          <a:xfrm>
            <a:off x="7853903" y="1288584"/>
            <a:ext cx="3565979" cy="4221104"/>
            <a:chOff x="8092968" y="2973239"/>
            <a:chExt cx="3565979" cy="4221104"/>
          </a:xfrm>
        </p:grpSpPr>
        <p:sp>
          <p:nvSpPr>
            <p:cNvPr id="14" name="TextBox 7"/>
            <p:cNvSpPr txBox="1"/>
            <p:nvPr>
              <p:custDataLst>
                <p:tags r:id="rId8"/>
              </p:custDataLst>
            </p:nvPr>
          </p:nvSpPr>
          <p:spPr>
            <a:xfrm>
              <a:off x="8380533" y="2973239"/>
              <a:ext cx="2990850" cy="685800"/>
            </a:xfrm>
            <a:prstGeom prst="rect">
              <a:avLst/>
            </a:prstGeom>
          </p:spPr>
          <p:txBody>
            <a:bodyPr vert="horz" wrap="square" lIns="123825" tIns="123825" rIns="57150" bIns="123825" rtlCol="0" anchor="ctr" anchorCtr="0">
              <a:noAutofit/>
            </a:bodyPr>
            <a:lstStyle/>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发电厂出口处</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三相短路故障</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 name="TextBox 8"/>
            <p:cNvSpPr txBox="1"/>
            <p:nvPr>
              <p:custDataLst>
                <p:tags r:id="rId9"/>
              </p:custDataLst>
            </p:nvPr>
          </p:nvSpPr>
          <p:spPr>
            <a:xfrm>
              <a:off x="8092968" y="4441618"/>
              <a:ext cx="3565979" cy="2752725"/>
            </a:xfrm>
            <a:prstGeom prst="rect">
              <a:avLst/>
            </a:prstGeom>
          </p:spPr>
          <p:txBody>
            <a:bodyPr vert="horz" wrap="square" lIns="123825" tIns="123825" rIns="57150" bIns="123825" rtlCol="0" anchor="t" anchorCtr="0">
              <a:noAutofit/>
            </a:bodyPr>
            <a:lstStyle/>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作为与中间点故障的对比，并进一步探明系统的稳定边界，故障集中加入了发电厂出口处三相短路故障。该故障发生于线路</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#6</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至</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#5</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的</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#6</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侧母线出口，于</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10</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周波发生（</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MDE=1</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），并于</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18</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周波被切除。</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暂态稳定计算程序的</a:t>
            </a:r>
            <a:r>
              <a:rPr kumimoji="0" lang="en-US"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Matlab</a:t>
            </a: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实现</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0" name="TextBox 3"/>
          <p:cNvSpPr txBox="1"/>
          <p:nvPr>
            <p:custDataLst>
              <p:tags r:id="rId1"/>
            </p:custDataLst>
          </p:nvPr>
        </p:nvSpPr>
        <p:spPr>
          <a:xfrm>
            <a:off x="160655" y="972185"/>
            <a:ext cx="6910705" cy="685800"/>
          </a:xfrm>
          <a:prstGeom prst="rect">
            <a:avLst/>
          </a:prstGeom>
        </p:spPr>
        <p:txBody>
          <a:bodyPr vert="horz" wrap="square" lIns="123825" tIns="123825" rIns="57150" bIns="123825" rtlCol="0" anchor="ctr" anchorCtr="0">
            <a:noAutofit/>
          </a:bodyPr>
          <a:lstStyle/>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发电机模型：二阶经典模型（</a:t>
            </a:r>
            <a:r>
              <a:rPr lang="en-US" altLang="zh-CN" sz="2600" b="1" dirty="0">
                <a:solidFill>
                  <a:schemeClr val="tx2"/>
                </a:solidFill>
                <a:latin typeface="微软雅黑" panose="020B0503020204020204" charset="-122"/>
                <a:ea typeface="微软雅黑" panose="020B0503020204020204" charset="-122"/>
                <a:cs typeface="微软雅黑" panose="020B0503020204020204" charset="-122"/>
              </a:rPr>
              <a:t>E’</a:t>
            </a: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恒</a:t>
            </a: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定）</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 name="TextBox 3"/>
          <p:cNvSpPr txBox="1"/>
          <p:nvPr>
            <p:custDataLst>
              <p:tags r:id="rId2"/>
            </p:custDataLst>
          </p:nvPr>
        </p:nvSpPr>
        <p:spPr>
          <a:xfrm>
            <a:off x="0" y="3086100"/>
            <a:ext cx="5547360" cy="685800"/>
          </a:xfrm>
          <a:prstGeom prst="rect">
            <a:avLst/>
          </a:prstGeom>
        </p:spPr>
        <p:txBody>
          <a:bodyPr vert="horz" wrap="square" lIns="123825" tIns="123825" rIns="57150" bIns="123825" rtlCol="0" anchor="ctr" anchorCtr="0">
            <a:noAutofit/>
          </a:bodyPr>
          <a:lstStyle/>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网络变换原理：星三角</a:t>
            </a: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变换</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p:txBody>
      </p:sp>
      <p:pic>
        <p:nvPicPr>
          <p:cNvPr id="6" name="图片 5"/>
          <p:cNvPicPr/>
          <p:nvPr/>
        </p:nvPicPr>
        <p:blipFill>
          <a:blip r:embed="rId3"/>
          <a:stretch>
            <a:fillRect/>
          </a:stretch>
        </p:blipFill>
        <p:spPr>
          <a:xfrm>
            <a:off x="3147060" y="1894840"/>
            <a:ext cx="5897245" cy="572135"/>
          </a:xfrm>
          <a:prstGeom prst="rect">
            <a:avLst/>
          </a:prstGeom>
        </p:spPr>
      </p:pic>
      <p:pic>
        <p:nvPicPr>
          <p:cNvPr id="7" name="图片 6"/>
          <p:cNvPicPr/>
          <p:nvPr/>
        </p:nvPicPr>
        <p:blipFill>
          <a:blip r:embed="rId4"/>
          <a:stretch>
            <a:fillRect/>
          </a:stretch>
        </p:blipFill>
        <p:spPr>
          <a:xfrm>
            <a:off x="4916170" y="2466975"/>
            <a:ext cx="2359660" cy="557530"/>
          </a:xfrm>
          <a:prstGeom prst="rect">
            <a:avLst/>
          </a:prstGeom>
        </p:spPr>
      </p:pic>
      <p:pic>
        <p:nvPicPr>
          <p:cNvPr id="8" name="图片 7"/>
          <p:cNvPicPr/>
          <p:nvPr/>
        </p:nvPicPr>
        <p:blipFill>
          <a:blip r:embed="rId5"/>
          <a:stretch>
            <a:fillRect/>
          </a:stretch>
        </p:blipFill>
        <p:spPr>
          <a:xfrm>
            <a:off x="723900" y="4500880"/>
            <a:ext cx="2719070" cy="663575"/>
          </a:xfrm>
          <a:prstGeom prst="rect">
            <a:avLst/>
          </a:prstGeom>
        </p:spPr>
      </p:pic>
      <p:pic>
        <p:nvPicPr>
          <p:cNvPr id="9" name="图片 8"/>
          <p:cNvPicPr/>
          <p:nvPr/>
        </p:nvPicPr>
        <p:blipFill>
          <a:blip r:embed="rId6"/>
          <a:stretch>
            <a:fillRect/>
          </a:stretch>
        </p:blipFill>
        <p:spPr>
          <a:xfrm>
            <a:off x="4974590" y="4500880"/>
            <a:ext cx="2243455" cy="668655"/>
          </a:xfrm>
          <a:prstGeom prst="rect">
            <a:avLst/>
          </a:prstGeom>
        </p:spPr>
      </p:pic>
      <p:pic>
        <p:nvPicPr>
          <p:cNvPr id="11" name="图片 10"/>
          <p:cNvPicPr/>
          <p:nvPr/>
        </p:nvPicPr>
        <p:blipFill>
          <a:blip r:embed="rId7"/>
          <a:stretch>
            <a:fillRect/>
          </a:stretch>
        </p:blipFill>
        <p:spPr>
          <a:xfrm>
            <a:off x="9113520" y="4501515"/>
            <a:ext cx="1631315" cy="668020"/>
          </a:xfrm>
          <a:prstGeom prst="rect">
            <a:avLst/>
          </a:prstGeom>
        </p:spPr>
      </p:pic>
      <p:sp>
        <p:nvSpPr>
          <p:cNvPr id="13" name="文本框 12"/>
          <p:cNvSpPr txBox="1"/>
          <p:nvPr/>
        </p:nvSpPr>
        <p:spPr>
          <a:xfrm>
            <a:off x="8480425" y="4163695"/>
            <a:ext cx="2897505" cy="306705"/>
          </a:xfrm>
          <a:prstGeom prst="rect">
            <a:avLst/>
          </a:prstGeom>
        </p:spPr>
        <p:txBody>
          <a:bodyPr wrap="square">
            <a:spAutoFit/>
          </a:bodyPr>
          <a:p>
            <a:pPr marL="0" indent="609600" algn="just" defTabSz="266700">
              <a:spcBef>
                <a:spcPts val="800"/>
              </a:spcBef>
              <a:spcAft>
                <a:spcPts val="800"/>
              </a:spcAft>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故障后转移电抗：</a:t>
            </a:r>
            <a:endParaRPr lang="zh-CN" altLang="en-US" sz="1600">
              <a:latin typeface="宋体" panose="02010600030101010101" pitchFamily="2" charset="-122"/>
              <a:ea typeface="宋体" panose="02010600030101010101" pitchFamily="2" charset="-122"/>
            </a:endParaRPr>
          </a:p>
        </p:txBody>
      </p:sp>
      <p:sp>
        <p:nvSpPr>
          <p:cNvPr id="14" name="文本框 13"/>
          <p:cNvSpPr txBox="1"/>
          <p:nvPr/>
        </p:nvSpPr>
        <p:spPr>
          <a:xfrm>
            <a:off x="5077460" y="4163695"/>
            <a:ext cx="2037715" cy="306705"/>
          </a:xfrm>
          <a:prstGeom prst="rect">
            <a:avLst/>
          </a:prstGeom>
        </p:spPr>
        <p:txBody>
          <a:bodyPr wrap="square">
            <a:spAutoFit/>
          </a:bodyPr>
          <a:p>
            <a:pPr marL="0" indent="0" algn="just" defTabSz="266700">
              <a:spcBef>
                <a:spcPct val="0"/>
              </a:spcBef>
              <a:spcAft>
                <a:spcPct val="0"/>
              </a:spcAft>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故障期间转移电抗：</a:t>
            </a:r>
            <a:endParaRPr lang="zh-CN" altLang="en-US" sz="1600">
              <a:latin typeface="宋体" panose="02010600030101010101" pitchFamily="2" charset="-122"/>
              <a:ea typeface="宋体" panose="02010600030101010101" pitchFamily="2" charset="-122"/>
            </a:endParaRPr>
          </a:p>
        </p:txBody>
      </p:sp>
      <p:sp>
        <p:nvSpPr>
          <p:cNvPr id="15" name="文本框 14"/>
          <p:cNvSpPr txBox="1"/>
          <p:nvPr/>
        </p:nvSpPr>
        <p:spPr>
          <a:xfrm>
            <a:off x="1087755" y="4163695"/>
            <a:ext cx="1991360" cy="306705"/>
          </a:xfrm>
          <a:prstGeom prst="rect">
            <a:avLst/>
          </a:prstGeom>
        </p:spPr>
        <p:txBody>
          <a:bodyPr wrap="square">
            <a:spAutoFit/>
          </a:bodyPr>
          <a:p>
            <a:pPr marL="0" indent="0" algn="just" defTabSz="266700">
              <a:spcBef>
                <a:spcPct val="0"/>
              </a:spcBef>
              <a:spcAft>
                <a:spcPct val="0"/>
              </a:spcAft>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正常情况转移电抗：</a:t>
            </a:r>
            <a:endParaRPr lang="zh-CN" altLang="en-US" sz="160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暂态稳定计算程序的</a:t>
            </a:r>
            <a:r>
              <a:rPr kumimoji="0" lang="en-US"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Matlab</a:t>
            </a: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实现</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5" name="图片 2"/>
          <p:cNvPicPr>
            <a:picLocks noChangeAspect="1"/>
          </p:cNvPicPr>
          <p:nvPr/>
        </p:nvPicPr>
        <p:blipFill>
          <a:blip r:embed="rId1"/>
          <a:stretch>
            <a:fillRect/>
          </a:stretch>
        </p:blipFill>
        <p:spPr>
          <a:xfrm>
            <a:off x="814705" y="1225550"/>
            <a:ext cx="5320030" cy="2451100"/>
          </a:xfrm>
          <a:prstGeom prst="rect">
            <a:avLst/>
          </a:prstGeom>
          <a:noFill/>
          <a:ln>
            <a:noFill/>
          </a:ln>
        </p:spPr>
      </p:pic>
      <p:pic>
        <p:nvPicPr>
          <p:cNvPr id="6" name="图片 3"/>
          <p:cNvPicPr>
            <a:picLocks noChangeAspect="1"/>
          </p:cNvPicPr>
          <p:nvPr/>
        </p:nvPicPr>
        <p:blipFill>
          <a:blip r:embed="rId2"/>
          <a:stretch>
            <a:fillRect/>
          </a:stretch>
        </p:blipFill>
        <p:spPr>
          <a:xfrm>
            <a:off x="814705" y="3905885"/>
            <a:ext cx="5320665" cy="2417445"/>
          </a:xfrm>
          <a:prstGeom prst="rect">
            <a:avLst/>
          </a:prstGeom>
          <a:noFill/>
          <a:ln>
            <a:noFill/>
          </a:ln>
        </p:spPr>
      </p:pic>
      <p:sp>
        <p:nvSpPr>
          <p:cNvPr id="2" name="文本框 1"/>
          <p:cNvSpPr txBox="1"/>
          <p:nvPr/>
        </p:nvSpPr>
        <p:spPr>
          <a:xfrm>
            <a:off x="6430010" y="1524635"/>
            <a:ext cx="5080000" cy="1719580"/>
          </a:xfrm>
          <a:prstGeom prst="rect">
            <a:avLst/>
          </a:prstGeom>
        </p:spPr>
        <p:txBody>
          <a:bodyPr>
            <a:noAutofit/>
          </a:bodyPr>
          <a:p>
            <a:pPr marL="0" indent="0" algn="just" defTabSz="266700">
              <a:spcBef>
                <a:spcPct val="0"/>
              </a:spcBef>
              <a:spcAft>
                <a:spcPct val="0"/>
              </a:spcAft>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通过对该曲线的分析可以观察到：在故障发生前，系统处于稳态，功角恒定。在</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sym typeface="+mn-ea"/>
              </a:rPr>
              <a:t>故障发生后，G1的功角开始加速增大，曲线陡然上升。在故障切除后，G1的加速功率变为负值（因为此时），转子开始减速。但由于惯性，功角继续增大，直到动能耗尽后开始回摆，随后在阻尼作用下经历若干次衰减振荡，最终稳定在一个新的平衡点。下图展示的转速曲线也可以说明这一点。</a:t>
            </a:r>
            <a:endParaRPr lang="zh-CN" altLang="en-US" sz="1600">
              <a:latin typeface="宋体" panose="02010600030101010101" pitchFamily="2" charset="-122"/>
              <a:ea typeface="宋体" panose="02010600030101010101" pitchFamily="2" charset="-122"/>
            </a:endParaRPr>
          </a:p>
          <a:p>
            <a:pPr marL="0" indent="0" algn="just" defTabSz="266700">
              <a:spcBef>
                <a:spcPct val="0"/>
              </a:spcBef>
              <a:spcAft>
                <a:spcPct val="0"/>
              </a:spcAft>
            </a:pPr>
            <a:endParaRPr lang="zh-CN" altLang="en-US" sz="1600">
              <a:latin typeface="宋体" panose="02010600030101010101" pitchFamily="2" charset="-122"/>
              <a:ea typeface="宋体" panose="02010600030101010101" pitchFamily="2" charset="-122"/>
            </a:endParaRPr>
          </a:p>
          <a:p>
            <a:pPr marL="0" indent="0" algn="just" defTabSz="266700">
              <a:spcBef>
                <a:spcPct val="0"/>
              </a:spcBef>
              <a:spcAft>
                <a:spcPct val="0"/>
              </a:spcAft>
            </a:pPr>
            <a:endParaRPr lang="zh-CN" altLang="en-US" sz="1600">
              <a:latin typeface="宋体" panose="02010600030101010101" pitchFamily="2" charset="-122"/>
              <a:ea typeface="宋体" panose="02010600030101010101" pitchFamily="2" charset="-122"/>
            </a:endParaRPr>
          </a:p>
        </p:txBody>
      </p:sp>
      <p:sp>
        <p:nvSpPr>
          <p:cNvPr id="12" name="文本框 11"/>
          <p:cNvSpPr txBox="1"/>
          <p:nvPr/>
        </p:nvSpPr>
        <p:spPr>
          <a:xfrm>
            <a:off x="6430010" y="4300538"/>
            <a:ext cx="5080000" cy="521970"/>
          </a:xfrm>
          <a:prstGeom prst="rect">
            <a:avLst/>
          </a:prstGeom>
        </p:spPr>
        <p:txBody>
          <a:bodyPr>
            <a:spAutoFit/>
          </a:bodyPr>
          <a:p>
            <a:pPr marL="0" algn="just" defTabSz="266700">
              <a:lnSpc>
                <a:spcPct val="100000"/>
              </a:lnSpc>
              <a:buClrTx/>
              <a:buSzTx/>
              <a:buFontTx/>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摇摆曲线和转速曲线表明，系统在0.10s的切除时间下能够恢复稳定，同时也证明了本稳定计算程序准确地模拟了故障全过程。</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暂态稳定计算程序的</a:t>
            </a:r>
            <a:r>
              <a:rPr kumimoji="0" lang="en-US"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Matlab</a:t>
            </a: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实现</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0" name="TextBox 3"/>
          <p:cNvSpPr txBox="1"/>
          <p:nvPr>
            <p:custDataLst>
              <p:tags r:id="rId1"/>
            </p:custDataLst>
          </p:nvPr>
        </p:nvSpPr>
        <p:spPr>
          <a:xfrm>
            <a:off x="0" y="1021080"/>
            <a:ext cx="5843270" cy="685800"/>
          </a:xfrm>
          <a:prstGeom prst="rect">
            <a:avLst/>
          </a:prstGeom>
        </p:spPr>
        <p:txBody>
          <a:bodyPr vert="horz" wrap="square" lIns="123825" tIns="123825" rIns="57150" bIns="123825" rtlCol="0" anchor="ctr" anchorCtr="0">
            <a:noAutofit/>
          </a:bodyPr>
          <a:lstStyle/>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极限切除角与极限切除时间</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p:txBody>
      </p:sp>
      <p:pic>
        <p:nvPicPr>
          <p:cNvPr id="3" name="图片 2"/>
          <p:cNvPicPr/>
          <p:nvPr/>
        </p:nvPicPr>
        <p:blipFill>
          <a:blip r:embed="rId2"/>
          <a:stretch>
            <a:fillRect/>
          </a:stretch>
        </p:blipFill>
        <p:spPr>
          <a:xfrm>
            <a:off x="659765" y="1977390"/>
            <a:ext cx="5183505" cy="481330"/>
          </a:xfrm>
          <a:prstGeom prst="rect">
            <a:avLst/>
          </a:prstGeom>
        </p:spPr>
      </p:pic>
      <p:sp>
        <p:nvSpPr>
          <p:cNvPr id="5" name="文本框 4"/>
          <p:cNvSpPr txBox="1"/>
          <p:nvPr/>
        </p:nvSpPr>
        <p:spPr>
          <a:xfrm>
            <a:off x="659765" y="2729230"/>
            <a:ext cx="5183505" cy="736600"/>
          </a:xfrm>
          <a:prstGeom prst="rect">
            <a:avLst/>
          </a:prstGeom>
        </p:spPr>
        <p:txBody>
          <a:bodyPr wrap="square">
            <a:spAutoFit/>
          </a:bodyPr>
          <a:p>
            <a:pPr marL="0" algn="l" defTabSz="914400">
              <a:lnSpc>
                <a:spcPct val="140000"/>
              </a:lnSpc>
              <a:buClrTx/>
              <a:buSzTx/>
              <a:buFontTx/>
            </a:pP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应用等面积法则计算该故障下的极限切除角</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sym typeface="+mn-ea"/>
              </a:rPr>
              <a:t>和极限切除时间</a:t>
            </a:r>
            <a:endPar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a:p>
            <a:pPr marL="0" indent="0" algn="l" defTabSz="914400">
              <a:lnSpc>
                <a:spcPct val="140000"/>
              </a:lnSpc>
              <a:spcBef>
                <a:spcPct val="0"/>
              </a:spcBef>
              <a:spcAft>
                <a:spcPct val="0"/>
              </a:spcAft>
              <a:buClrTx/>
              <a:buSzTx/>
              <a:buFontTx/>
            </a:pPr>
            <a:endParaRPr lang="zh-CN" altLang="en-US" sz="1600">
              <a:latin typeface="宋体" panose="02010600030101010101" pitchFamily="2" charset="-122"/>
              <a:ea typeface="宋体" panose="02010600030101010101" pitchFamily="2" charset="-122"/>
            </a:endParaRPr>
          </a:p>
        </p:txBody>
      </p:sp>
      <p:sp>
        <p:nvSpPr>
          <p:cNvPr id="11" name="文本框 10"/>
          <p:cNvSpPr txBox="1"/>
          <p:nvPr/>
        </p:nvSpPr>
        <p:spPr>
          <a:xfrm>
            <a:off x="659765" y="4150360"/>
            <a:ext cx="5183505" cy="1598295"/>
          </a:xfrm>
          <a:prstGeom prst="rect">
            <a:avLst/>
          </a:prstGeom>
        </p:spPr>
        <p:txBody>
          <a:bodyPr wrap="square">
            <a:spAutoFit/>
          </a:bodyPr>
          <a:p>
            <a:pPr marL="0" algn="l" defTabSz="914400">
              <a:lnSpc>
                <a:spcPct val="140000"/>
              </a:lnSpc>
              <a:buClrTx/>
              <a:buSzTx/>
              <a:buFontTx/>
            </a:pP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本程序通过</a:t>
            </a: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搜索和插值</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计算，得出对于该测试系统和特定故障，其极限切除时间约为0.16s</a:t>
            </a:r>
            <a:r>
              <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sym typeface="+mn-ea"/>
              </a:rPr>
              <a:t>。这一结果意味着，如果实际保护系统动作时间超过0.16秒，系统将失去稳定。同时，使用标准等面积法公式得到的极限切除为87.61°。</a:t>
            </a:r>
            <a:endPar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a:p>
            <a:pPr marL="0" algn="l" defTabSz="914400">
              <a:lnSpc>
                <a:spcPct val="140000"/>
              </a:lnSpc>
              <a:buClrTx/>
              <a:buSzTx/>
              <a:buFontTx/>
            </a:pPr>
            <a:endParaRPr lang="en-US"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p:txBody>
      </p:sp>
      <p:pic>
        <p:nvPicPr>
          <p:cNvPr id="14" name="图片 13"/>
          <p:cNvPicPr>
            <a:picLocks noChangeAspect="1"/>
          </p:cNvPicPr>
          <p:nvPr/>
        </p:nvPicPr>
        <p:blipFill>
          <a:blip r:embed="rId3"/>
          <a:stretch>
            <a:fillRect/>
          </a:stretch>
        </p:blipFill>
        <p:spPr>
          <a:xfrm>
            <a:off x="7633335" y="1145540"/>
            <a:ext cx="2047875" cy="5424805"/>
          </a:xfrm>
          <a:prstGeom prst="rect">
            <a:avLst/>
          </a:prstGeom>
        </p:spPr>
      </p:pic>
      <p:pic>
        <p:nvPicPr>
          <p:cNvPr id="15" name="图片 14"/>
          <p:cNvPicPr>
            <a:picLocks noChangeAspect="1"/>
          </p:cNvPicPr>
          <p:nvPr/>
        </p:nvPicPr>
        <p:blipFill>
          <a:blip r:embed="rId4"/>
          <a:stretch>
            <a:fillRect/>
          </a:stretch>
        </p:blipFill>
        <p:spPr>
          <a:xfrm>
            <a:off x="1693545" y="3207385"/>
            <a:ext cx="2705100" cy="9429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DSP</a:t>
            </a: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全故障集稳定扫描</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 name="Text Box 2"/>
          <p:cNvSpPr txBox="1"/>
          <p:nvPr/>
        </p:nvSpPr>
        <p:spPr>
          <a:xfrm>
            <a:off x="395605" y="1173798"/>
            <a:ext cx="5080000" cy="337185"/>
          </a:xfrm>
          <a:prstGeom prst="rect">
            <a:avLst/>
          </a:prstGeom>
        </p:spPr>
        <p:txBody>
          <a:bodyPr>
            <a:spAutoFit/>
          </a:bodyPr>
          <a:p>
            <a:pPr marL="0" indent="0" algn="just" defTabSz="266700">
              <a:spcBef>
                <a:spcPct val="0"/>
              </a:spcBef>
              <a:spcAft>
                <a:spcPct val="0"/>
              </a:spcAft>
            </a:pPr>
            <a:r>
              <a:rPr lang="zh-CN" altLang="en-US" sz="1600">
                <a:latin typeface="宋体" panose="02010600030101010101" pitchFamily="2" charset="-122"/>
                <a:ea typeface="宋体" panose="02010600030101010101" pitchFamily="2" charset="-122"/>
              </a:rPr>
              <a:t>线路中间点三相短路故障</a:t>
            </a:r>
            <a:endParaRPr lang="zh-CN" altLang="en-US" sz="1600">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648970" y="1669415"/>
            <a:ext cx="5048250" cy="4580890"/>
          </a:xfrm>
          <a:prstGeom prst="rect">
            <a:avLst/>
          </a:prstGeom>
          <a:noFill/>
          <a:ln>
            <a:noFill/>
          </a:ln>
        </p:spPr>
      </p:pic>
      <p:pic>
        <p:nvPicPr>
          <p:cNvPr id="9" name="图片 5"/>
          <p:cNvPicPr>
            <a:picLocks noChangeAspect="1"/>
          </p:cNvPicPr>
          <p:nvPr/>
        </p:nvPicPr>
        <p:blipFill>
          <a:blip r:embed="rId2"/>
          <a:stretch>
            <a:fillRect/>
          </a:stretch>
        </p:blipFill>
        <p:spPr>
          <a:xfrm>
            <a:off x="6013450" y="1669415"/>
            <a:ext cx="5187950" cy="3529330"/>
          </a:xfrm>
          <a:prstGeom prst="rect">
            <a:avLst/>
          </a:prstGeom>
          <a:noFill/>
          <a:ln>
            <a:noFill/>
          </a:ln>
        </p:spPr>
      </p:pic>
      <p:sp>
        <p:nvSpPr>
          <p:cNvPr id="7" name="Text Box 6"/>
          <p:cNvSpPr txBox="1"/>
          <p:nvPr/>
        </p:nvSpPr>
        <p:spPr>
          <a:xfrm>
            <a:off x="6096000" y="5483225"/>
            <a:ext cx="5480685" cy="1076325"/>
          </a:xfrm>
          <a:prstGeom prst="rect">
            <a:avLst/>
          </a:prstGeom>
          <a:noFill/>
        </p:spPr>
        <p:txBody>
          <a:bodyPr wrap="square" rtlCol="0">
            <a:spAutoFit/>
          </a:bodyPr>
          <a:p>
            <a:r>
              <a:rPr lang="zh-CN" altLang="en-US" sz="1600" dirty="0" smtClean="0">
                <a:solidFill>
                  <a:schemeClr val="tx1">
                    <a:lumMod val="75000"/>
                    <a:lumOff val="25000"/>
                  </a:schemeClr>
                </a:solidFill>
                <a:latin typeface="微软雅黑" panose="020B0503020204020204" charset="-122"/>
                <a:ea typeface="微软雅黑" panose="020B0503020204020204" charset="-122"/>
              </a:rPr>
              <a:t>在第</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25</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个周波时，设置在节点</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5</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处的三相瞬时短路，后经多次试验，得到在第</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36</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个周波对故障进行切除时，系统能够稳定运行。</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a:p>
            <a:r>
              <a:rPr lang="zh-CN" altLang="en-US" sz="1600" dirty="0" smtClean="0">
                <a:solidFill>
                  <a:schemeClr val="tx1">
                    <a:lumMod val="75000"/>
                    <a:lumOff val="25000"/>
                  </a:schemeClr>
                </a:solidFill>
                <a:latin typeface="微软雅黑" panose="020B0503020204020204" charset="-122"/>
                <a:ea typeface="微软雅黑" panose="020B0503020204020204" charset="-122"/>
              </a:rPr>
              <a:t>仿真结果得到该系统稳定，故障极限切除时间为</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0.22</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秒。</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DSP</a:t>
            </a: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全故障集稳定扫描</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 name="Text Box 1"/>
          <p:cNvSpPr txBox="1"/>
          <p:nvPr/>
        </p:nvSpPr>
        <p:spPr>
          <a:xfrm>
            <a:off x="260350" y="1224598"/>
            <a:ext cx="5080000" cy="337185"/>
          </a:xfrm>
          <a:prstGeom prst="rect">
            <a:avLst/>
          </a:prstGeom>
        </p:spPr>
        <p:txBody>
          <a:bodyPr>
            <a:spAutoFit/>
          </a:bodyPr>
          <a:p>
            <a:pPr marL="0" indent="0" algn="just" defTabSz="266700">
              <a:spcBef>
                <a:spcPct val="0"/>
              </a:spcBef>
              <a:spcAft>
                <a:spcPct val="0"/>
              </a:spcAft>
            </a:pPr>
            <a:r>
              <a:rPr lang="zh-CN" altLang="en-US" sz="1600">
                <a:latin typeface="宋体" panose="02010600030101010101" pitchFamily="2" charset="-122"/>
                <a:ea typeface="宋体" panose="02010600030101010101" pitchFamily="2" charset="-122"/>
              </a:rPr>
              <a:t>发电厂出口处三相短路故障（</a:t>
            </a:r>
            <a:r>
              <a:rPr lang="en-US" altLang="zh-CN" sz="1600">
                <a:latin typeface="Times New Roman" panose="02020603050405020304"/>
                <a:ea typeface="宋体" panose="02010600030101010101" pitchFamily="2" charset="-122"/>
              </a:rPr>
              <a:t>N-1</a:t>
            </a:r>
            <a:r>
              <a:rPr lang="zh-CN" altLang="en-US" sz="1600">
                <a:latin typeface="宋体" panose="02010600030101010101" pitchFamily="2" charset="-122"/>
                <a:ea typeface="宋体" panose="02010600030101010101" pitchFamily="2" charset="-122"/>
              </a:rPr>
              <a:t>）</a:t>
            </a:r>
            <a:endParaRPr lang="zh-CN" altLang="en-US" sz="1600">
              <a:latin typeface="宋体" panose="02010600030101010101" pitchFamily="2" charset="-122"/>
              <a:ea typeface="宋体" panose="02010600030101010101" pitchFamily="2" charset="-122"/>
            </a:endParaRPr>
          </a:p>
        </p:txBody>
      </p:sp>
      <p:pic>
        <p:nvPicPr>
          <p:cNvPr id="10" name="图片 7"/>
          <p:cNvPicPr>
            <a:picLocks noChangeAspect="1"/>
          </p:cNvPicPr>
          <p:nvPr/>
        </p:nvPicPr>
        <p:blipFill>
          <a:blip r:embed="rId1"/>
          <a:stretch>
            <a:fillRect/>
          </a:stretch>
        </p:blipFill>
        <p:spPr>
          <a:xfrm>
            <a:off x="260350" y="1562100"/>
            <a:ext cx="4947285" cy="4658360"/>
          </a:xfrm>
          <a:prstGeom prst="rect">
            <a:avLst/>
          </a:prstGeom>
          <a:noFill/>
          <a:ln>
            <a:noFill/>
          </a:ln>
        </p:spPr>
      </p:pic>
      <p:pic>
        <p:nvPicPr>
          <p:cNvPr id="12" name="图片 8"/>
          <p:cNvPicPr>
            <a:picLocks noChangeAspect="1"/>
          </p:cNvPicPr>
          <p:nvPr/>
        </p:nvPicPr>
        <p:blipFill>
          <a:blip r:embed="rId2"/>
          <a:stretch>
            <a:fillRect/>
          </a:stretch>
        </p:blipFill>
        <p:spPr>
          <a:xfrm>
            <a:off x="5608638" y="1463358"/>
            <a:ext cx="5346065" cy="3656965"/>
          </a:xfrm>
          <a:prstGeom prst="rect">
            <a:avLst/>
          </a:prstGeom>
          <a:noFill/>
          <a:ln>
            <a:noFill/>
          </a:ln>
        </p:spPr>
      </p:pic>
      <p:sp>
        <p:nvSpPr>
          <p:cNvPr id="3" name="Text Box 2"/>
          <p:cNvSpPr txBox="1"/>
          <p:nvPr/>
        </p:nvSpPr>
        <p:spPr>
          <a:xfrm>
            <a:off x="5741670" y="5120323"/>
            <a:ext cx="5080000" cy="1106805"/>
          </a:xfrm>
          <a:prstGeom prst="rect">
            <a:avLst/>
          </a:prstGeom>
        </p:spPr>
        <p:txBody>
          <a:bodyPr>
            <a:spAutoFit/>
          </a:bodyPr>
          <a:p>
            <a:pPr marL="0" indent="304800" algn="l" defTabSz="266700">
              <a:lnSpc>
                <a:spcPts val="2000"/>
              </a:lnSpc>
              <a:spcBef>
                <a:spcPct val="0"/>
              </a:spcBef>
              <a:spcAft>
                <a:spcPct val="0"/>
              </a:spcAft>
            </a:pPr>
            <a:r>
              <a:rPr lang="zh-CN" altLang="en-US" sz="1600">
                <a:latin typeface="宋体" panose="02010600030101010101" pitchFamily="2" charset="-122"/>
                <a:ea typeface="宋体" panose="02010600030101010101" pitchFamily="2" charset="-122"/>
              </a:rPr>
              <a:t>在第</a:t>
            </a:r>
            <a:r>
              <a:rPr lang="en-US" altLang="zh-CN" sz="1600">
                <a:latin typeface="Times New Roman" panose="02020603050405020304"/>
                <a:ea typeface="宋体" panose="02010600030101010101" pitchFamily="2" charset="-122"/>
              </a:rPr>
              <a:t>10</a:t>
            </a:r>
            <a:r>
              <a:rPr lang="zh-CN" altLang="en-US" sz="1600">
                <a:latin typeface="宋体" panose="02010600030101010101" pitchFamily="2" charset="-122"/>
                <a:ea typeface="宋体" panose="02010600030101010101" pitchFamily="2" charset="-122"/>
              </a:rPr>
              <a:t>个周波时，设置节点</a:t>
            </a:r>
            <a:r>
              <a:rPr lang="en-US" altLang="zh-CN" sz="1600">
                <a:latin typeface="Times New Roman" panose="02020603050405020304"/>
                <a:ea typeface="宋体" panose="02010600030101010101" pitchFamily="2" charset="-122"/>
              </a:rPr>
              <a:t>6</a:t>
            </a:r>
            <a:r>
              <a:rPr lang="zh-CN" altLang="en-US" sz="1600">
                <a:latin typeface="宋体" panose="02010600030101010101" pitchFamily="2" charset="-122"/>
                <a:ea typeface="宋体" panose="02010600030101010101" pitchFamily="2" charset="-122"/>
              </a:rPr>
              <a:t>处的三相短路，后经多次试验，得到在第</a:t>
            </a:r>
            <a:r>
              <a:rPr lang="en-US" altLang="zh-CN" sz="1600">
                <a:latin typeface="Times New Roman" panose="02020603050405020304"/>
                <a:ea typeface="宋体" panose="02010600030101010101" pitchFamily="2" charset="-122"/>
              </a:rPr>
              <a:t>18</a:t>
            </a:r>
            <a:r>
              <a:rPr lang="zh-CN" altLang="en-US" sz="1600">
                <a:latin typeface="宋体" panose="02010600030101010101" pitchFamily="2" charset="-122"/>
                <a:ea typeface="宋体" panose="02010600030101010101" pitchFamily="2" charset="-122"/>
              </a:rPr>
              <a:t>个周波对故障进行切除时，系统能够稳定运行。</a:t>
            </a:r>
            <a:endParaRPr lang="zh-CN" altLang="en-US" sz="1600">
              <a:latin typeface="宋体" panose="02010600030101010101" pitchFamily="2" charset="-122"/>
              <a:ea typeface="宋体" panose="02010600030101010101" pitchFamily="2" charset="-122"/>
            </a:endParaRPr>
          </a:p>
          <a:p>
            <a:pPr marL="0" indent="0" algn="just" defTabSz="266700">
              <a:spcBef>
                <a:spcPct val="0"/>
              </a:spcBef>
              <a:spcAft>
                <a:spcPct val="0"/>
              </a:spcAft>
            </a:pPr>
            <a:r>
              <a:rPr lang="zh-CN" altLang="en-US" sz="1600">
                <a:latin typeface="宋体" panose="02010600030101010101" pitchFamily="2" charset="-122"/>
                <a:ea typeface="宋体" panose="02010600030101010101" pitchFamily="2" charset="-122"/>
              </a:rPr>
              <a:t>仿真结果得到该系统稳定，故障极限切除时间为</a:t>
            </a:r>
            <a:r>
              <a:rPr lang="en-US" altLang="zh-CN" sz="1600">
                <a:latin typeface="Times New Roman" panose="02020603050405020304"/>
                <a:ea typeface="宋体" panose="02010600030101010101" pitchFamily="2" charset="-122"/>
              </a:rPr>
              <a:t>0.08</a:t>
            </a:r>
            <a:r>
              <a:rPr lang="zh-CN" altLang="en-US" sz="1600">
                <a:latin typeface="宋体" panose="02010600030101010101" pitchFamily="2" charset="-122"/>
                <a:ea typeface="宋体" panose="02010600030101010101" pitchFamily="2" charset="-122"/>
              </a:rPr>
              <a:t>秒。</a:t>
            </a:r>
            <a:endParaRPr lang="zh-CN" altLang="en-US" sz="1600">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DSP</a:t>
            </a: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全故障集稳定扫描</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 name="Text Box 1"/>
          <p:cNvSpPr txBox="1"/>
          <p:nvPr/>
        </p:nvSpPr>
        <p:spPr>
          <a:xfrm>
            <a:off x="260350" y="1136333"/>
            <a:ext cx="5080000" cy="337185"/>
          </a:xfrm>
          <a:prstGeom prst="rect">
            <a:avLst/>
          </a:prstGeom>
        </p:spPr>
        <p:txBody>
          <a:bodyPr>
            <a:spAutoFit/>
          </a:bodyPr>
          <a:p>
            <a:pPr marL="0" indent="0" algn="just" defTabSz="266700">
              <a:spcBef>
                <a:spcPct val="0"/>
              </a:spcBef>
              <a:spcAft>
                <a:spcPct val="0"/>
              </a:spcAft>
            </a:pPr>
            <a:r>
              <a:rPr lang="zh-CN" altLang="en-US" sz="1600">
                <a:latin typeface="宋体" panose="02010600030101010101" pitchFamily="2" charset="-122"/>
                <a:ea typeface="宋体" panose="02010600030101010101" pitchFamily="2" charset="-122"/>
              </a:rPr>
              <a:t>重合闸于单相永久性故障</a:t>
            </a:r>
            <a:endParaRPr lang="zh-CN" altLang="en-US" sz="1600">
              <a:latin typeface="宋体" panose="02010600030101010101" pitchFamily="2" charset="-122"/>
              <a:ea typeface="宋体" panose="02010600030101010101" pitchFamily="2" charset="-122"/>
            </a:endParaRPr>
          </a:p>
        </p:txBody>
      </p:sp>
      <p:pic>
        <p:nvPicPr>
          <p:cNvPr id="15" name="图片 10"/>
          <p:cNvPicPr>
            <a:picLocks noChangeAspect="1"/>
          </p:cNvPicPr>
          <p:nvPr/>
        </p:nvPicPr>
        <p:blipFill>
          <a:blip r:embed="rId1"/>
          <a:stretch>
            <a:fillRect/>
          </a:stretch>
        </p:blipFill>
        <p:spPr>
          <a:xfrm>
            <a:off x="260033" y="1548765"/>
            <a:ext cx="4935855" cy="2586990"/>
          </a:xfrm>
          <a:prstGeom prst="rect">
            <a:avLst/>
          </a:prstGeom>
          <a:noFill/>
          <a:ln>
            <a:noFill/>
          </a:ln>
        </p:spPr>
      </p:pic>
      <p:pic>
        <p:nvPicPr>
          <p:cNvPr id="13" name="图片 11"/>
          <p:cNvPicPr>
            <a:picLocks noChangeAspect="1"/>
          </p:cNvPicPr>
          <p:nvPr/>
        </p:nvPicPr>
        <p:blipFill>
          <a:blip r:embed="rId2"/>
          <a:stretch>
            <a:fillRect/>
          </a:stretch>
        </p:blipFill>
        <p:spPr>
          <a:xfrm>
            <a:off x="260033" y="4134168"/>
            <a:ext cx="4791075" cy="2522855"/>
          </a:xfrm>
          <a:prstGeom prst="rect">
            <a:avLst/>
          </a:prstGeom>
          <a:noFill/>
          <a:ln>
            <a:noFill/>
          </a:ln>
        </p:spPr>
      </p:pic>
      <p:pic>
        <p:nvPicPr>
          <p:cNvPr id="16" name="图片 12"/>
          <p:cNvPicPr>
            <a:picLocks noChangeAspect="1"/>
          </p:cNvPicPr>
          <p:nvPr/>
        </p:nvPicPr>
        <p:blipFill>
          <a:blip r:embed="rId3"/>
          <a:stretch>
            <a:fillRect/>
          </a:stretch>
        </p:blipFill>
        <p:spPr>
          <a:xfrm>
            <a:off x="5534025" y="1473518"/>
            <a:ext cx="5270500" cy="3515995"/>
          </a:xfrm>
          <a:prstGeom prst="rect">
            <a:avLst/>
          </a:prstGeom>
          <a:noFill/>
          <a:ln>
            <a:noFill/>
          </a:ln>
        </p:spPr>
      </p:pic>
      <p:sp>
        <p:nvSpPr>
          <p:cNvPr id="3" name="Text Box 2"/>
          <p:cNvSpPr txBox="1"/>
          <p:nvPr/>
        </p:nvSpPr>
        <p:spPr>
          <a:xfrm>
            <a:off x="5730875" y="5133340"/>
            <a:ext cx="5375910" cy="1322070"/>
          </a:xfrm>
          <a:prstGeom prst="rect">
            <a:avLst/>
          </a:prstGeom>
          <a:noFill/>
        </p:spPr>
        <p:txBody>
          <a:bodyPr wrap="square" rtlCol="0">
            <a:spAutoFit/>
          </a:bodyPr>
          <a:p>
            <a:r>
              <a:rPr lang="zh-CN" altLang="en-US" sz="1600" dirty="0" smtClean="0">
                <a:solidFill>
                  <a:schemeClr val="tx1">
                    <a:lumMod val="75000"/>
                    <a:lumOff val="25000"/>
                  </a:schemeClr>
                </a:solidFill>
                <a:latin typeface="微软雅黑" panose="020B0503020204020204" charset="-122"/>
                <a:ea typeface="微软雅黑" panose="020B0503020204020204" charset="-122"/>
              </a:rPr>
              <a:t>起始在</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10</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周波时，设置线路</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5-6</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间</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A</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相永久短路，随后短路在第</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15</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周波被切除，</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A</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相跳闸，再设置在第</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60</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周波时进行重合闸，重合闸失败，第</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65</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周波时再次切除短路，三相永久跳闸，线路最终被三相断开。</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a:p>
            <a:r>
              <a:rPr lang="zh-CN" altLang="en-US" sz="1600" dirty="0" smtClean="0">
                <a:solidFill>
                  <a:schemeClr val="tx1">
                    <a:lumMod val="75000"/>
                    <a:lumOff val="25000"/>
                  </a:schemeClr>
                </a:solidFill>
                <a:latin typeface="微软雅黑" panose="020B0503020204020204" charset="-122"/>
                <a:ea typeface="微软雅黑" panose="020B0503020204020204" charset="-122"/>
              </a:rPr>
              <a:t>仿真结果得到该系统稳定，故障极限切除时间为</a:t>
            </a:r>
            <a:r>
              <a:rPr lang="en-US" altLang="en-US" sz="1600" dirty="0" smtClean="0">
                <a:solidFill>
                  <a:schemeClr val="tx1">
                    <a:lumMod val="75000"/>
                    <a:lumOff val="25000"/>
                  </a:schemeClr>
                </a:solidFill>
                <a:latin typeface="微软雅黑" panose="020B0503020204020204" charset="-122"/>
                <a:ea typeface="微软雅黑" panose="020B0503020204020204" charset="-122"/>
              </a:rPr>
              <a:t>0.16</a:t>
            </a:r>
            <a:r>
              <a:rPr lang="zh-CN" altLang="en-US" sz="1600" dirty="0" smtClean="0">
                <a:solidFill>
                  <a:schemeClr val="tx1">
                    <a:lumMod val="75000"/>
                    <a:lumOff val="25000"/>
                  </a:schemeClr>
                </a:solidFill>
                <a:latin typeface="微软雅黑" panose="020B0503020204020204" charset="-122"/>
                <a:ea typeface="微软雅黑" panose="020B0503020204020204" charset="-122"/>
              </a:rPr>
              <a:t>秒。</a:t>
            </a:r>
            <a:endParaRPr lang="zh-CN" altLang="en-US" sz="1600" dirty="0" smtClean="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1"/>
            </p:custDataLst>
          </p:nvPr>
        </p:nvGrpSpPr>
        <p:grpSpPr>
          <a:xfrm>
            <a:off x="260176" y="1502579"/>
            <a:ext cx="2951480" cy="5810250"/>
            <a:chOff x="638636" y="2898309"/>
            <a:chExt cx="2951480" cy="5810250"/>
          </a:xfrm>
        </p:grpSpPr>
        <p:sp>
          <p:nvSpPr>
            <p:cNvPr id="10" name="TextBox 3"/>
            <p:cNvSpPr txBox="1"/>
            <p:nvPr>
              <p:custDataLst>
                <p:tags r:id="rId2"/>
              </p:custDataLst>
            </p:nvPr>
          </p:nvSpPr>
          <p:spPr>
            <a:xfrm>
              <a:off x="638636" y="2898309"/>
              <a:ext cx="2915285" cy="685800"/>
            </a:xfrm>
            <a:prstGeom prst="rect">
              <a:avLst/>
            </a:prstGeom>
          </p:spPr>
          <p:txBody>
            <a:bodyPr vert="horz" wrap="square" lIns="123825" tIns="123825" rIns="57150" bIns="123825" rtlCol="0" anchor="ctr" anchorCtr="0">
              <a:noAutofit/>
            </a:bodyPr>
            <a:lstStyle/>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继电保护系统优化</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 name="TextBox 4"/>
            <p:cNvSpPr txBox="1"/>
            <p:nvPr>
              <p:custDataLst>
                <p:tags r:id="rId3"/>
              </p:custDataLst>
            </p:nvPr>
          </p:nvSpPr>
          <p:spPr>
            <a:xfrm>
              <a:off x="638636" y="3434249"/>
              <a:ext cx="2951480" cy="5274310"/>
            </a:xfrm>
            <a:prstGeom prst="rect">
              <a:avLst/>
            </a:prstGeom>
          </p:spPr>
          <p:txBody>
            <a:bodyPr vert="horz" wrap="square" lIns="123825" tIns="123825" rIns="57150" bIns="123825" rtlCol="0" anchor="t" anchorCtr="0">
              <a:noAutofit/>
            </a:bodyPr>
            <a:lstStyle/>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缩短故障切除时间。</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完善保护配置。</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p:txBody>
        </p:sp>
      </p:grpSp>
      <p:grpSp>
        <p:nvGrpSpPr>
          <p:cNvPr id="3" name="组合 2"/>
          <p:cNvGrpSpPr/>
          <p:nvPr>
            <p:custDataLst>
              <p:tags r:id="rId4"/>
            </p:custDataLst>
          </p:nvPr>
        </p:nvGrpSpPr>
        <p:grpSpPr>
          <a:xfrm>
            <a:off x="4397449" y="1502579"/>
            <a:ext cx="3194050" cy="1666240"/>
            <a:chOff x="4188534" y="3187234"/>
            <a:chExt cx="3194050" cy="1666240"/>
          </a:xfrm>
        </p:grpSpPr>
        <p:sp>
          <p:nvSpPr>
            <p:cNvPr id="12" name="TextBox 5"/>
            <p:cNvSpPr txBox="1"/>
            <p:nvPr>
              <p:custDataLst>
                <p:tags r:id="rId5"/>
              </p:custDataLst>
            </p:nvPr>
          </p:nvSpPr>
          <p:spPr>
            <a:xfrm>
              <a:off x="4290134" y="3187234"/>
              <a:ext cx="2990850" cy="685800"/>
            </a:xfrm>
            <a:prstGeom prst="rect">
              <a:avLst/>
            </a:prstGeom>
          </p:spPr>
          <p:txBody>
            <a:bodyPr vert="horz" wrap="square" lIns="123825" tIns="123825" rIns="57150" bIns="123825" rtlCol="0" anchor="ctr" anchorCtr="0">
              <a:noAutofit/>
            </a:bodyPr>
            <a:lstStyle/>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发电机侧控制措施</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 name="TextBox 6"/>
            <p:cNvSpPr txBox="1"/>
            <p:nvPr>
              <p:custDataLst>
                <p:tags r:id="rId6"/>
              </p:custDataLst>
            </p:nvPr>
          </p:nvSpPr>
          <p:spPr>
            <a:xfrm>
              <a:off x="4188534" y="3947964"/>
              <a:ext cx="3194050" cy="905510"/>
            </a:xfrm>
            <a:prstGeom prst="rect">
              <a:avLst/>
            </a:prstGeom>
          </p:spPr>
          <p:txBody>
            <a:bodyPr vert="horz" wrap="square" lIns="123825" tIns="123825" rIns="57150" bIns="123825" rtlCol="0" anchor="t" anchorCtr="0">
              <a:noAutofit/>
            </a:bodyPr>
            <a:lstStyle/>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励磁系统强化。</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汽门快关控制。</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p:txBody>
        </p:sp>
      </p:grpSp>
      <p:grpSp>
        <p:nvGrpSpPr>
          <p:cNvPr id="5" name="组合 4"/>
          <p:cNvGrpSpPr/>
          <p:nvPr>
            <p:custDataLst>
              <p:tags r:id="rId7"/>
            </p:custDataLst>
          </p:nvPr>
        </p:nvGrpSpPr>
        <p:grpSpPr>
          <a:xfrm>
            <a:off x="8071073" y="1503214"/>
            <a:ext cx="3565979" cy="3513079"/>
            <a:chOff x="7543693" y="2898309"/>
            <a:chExt cx="3565979" cy="3513079"/>
          </a:xfrm>
        </p:grpSpPr>
        <p:sp>
          <p:nvSpPr>
            <p:cNvPr id="14" name="TextBox 7"/>
            <p:cNvSpPr txBox="1"/>
            <p:nvPr>
              <p:custDataLst>
                <p:tags r:id="rId8"/>
              </p:custDataLst>
            </p:nvPr>
          </p:nvSpPr>
          <p:spPr>
            <a:xfrm>
              <a:off x="7618533" y="2898309"/>
              <a:ext cx="2990850" cy="685800"/>
            </a:xfrm>
            <a:prstGeom prst="rect">
              <a:avLst/>
            </a:prstGeom>
          </p:spPr>
          <p:txBody>
            <a:bodyPr vert="horz" wrap="square" lIns="123825" tIns="123825" rIns="57150" bIns="123825" rtlCol="0" anchor="ctr" anchorCtr="0">
              <a:noAutofit/>
            </a:bodyPr>
            <a:lstStyle/>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系统运行方式调整</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 name="TextBox 8"/>
            <p:cNvSpPr txBox="1"/>
            <p:nvPr>
              <p:custDataLst>
                <p:tags r:id="rId9"/>
              </p:custDataLst>
            </p:nvPr>
          </p:nvSpPr>
          <p:spPr>
            <a:xfrm>
              <a:off x="7543693" y="3658663"/>
              <a:ext cx="3565979" cy="2752725"/>
            </a:xfrm>
            <a:prstGeom prst="rect">
              <a:avLst/>
            </a:prstGeom>
          </p:spPr>
          <p:txBody>
            <a:bodyPr vert="horz" wrap="square" lIns="123825" tIns="123825" rIns="57150" bIns="123825" rtlCol="0" anchor="t" anchorCtr="0">
              <a:noAutofit/>
            </a:bodyPr>
            <a:lstStyle/>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发电计划优化。</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网络拓扑优化。</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p:txBody>
        </p:sp>
      </p:grpSp>
      <p:sp>
        <p:nvSpPr>
          <p:cNvPr id="6" name="文本框 3"/>
          <p:cNvSpPr txBox="1"/>
          <p:nvPr/>
        </p:nvSpPr>
        <p:spPr>
          <a:xfrm>
            <a:off x="260573" y="167186"/>
            <a:ext cx="7620000" cy="5835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稳定性改善措施</a:t>
            </a:r>
            <a:endParaRPr kumimoji="0" lang="zh-CN" altLang="en-US" sz="3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7" name="Text Box 6"/>
          <p:cNvSpPr txBox="1"/>
          <p:nvPr/>
        </p:nvSpPr>
        <p:spPr>
          <a:xfrm>
            <a:off x="260350" y="964565"/>
            <a:ext cx="7690485" cy="398780"/>
          </a:xfrm>
          <a:prstGeom prst="rect">
            <a:avLst/>
          </a:prstGeom>
        </p:spPr>
        <p:txBody>
          <a:bodyPr wrap="square">
            <a:spAutoFit/>
          </a:bodyPr>
          <a:p>
            <a:pPr marL="0" indent="304800" algn="just" defTabSz="266700">
              <a:lnSpc>
                <a:spcPct val="125000"/>
              </a:lnSpc>
              <a:spcBef>
                <a:spcPct val="0"/>
              </a:spcBef>
              <a:spcAft>
                <a:spcPct val="0"/>
              </a:spcAft>
            </a:pPr>
            <a:r>
              <a:rPr lang="zh-CN" altLang="en-US" sz="1600">
                <a:latin typeface="宋体" panose="02010600030101010101" pitchFamily="2" charset="-122"/>
                <a:ea typeface="宋体" panose="02010600030101010101" pitchFamily="2" charset="-122"/>
              </a:rPr>
              <a:t>针对</a:t>
            </a:r>
            <a:r>
              <a:rPr lang="zh-CN" altLang="en-US" sz="1600">
                <a:latin typeface="Times New Roman" panose="02020603050405020304"/>
                <a:ea typeface="宋体" panose="02010600030101010101" pitchFamily="2" charset="-122"/>
              </a:rPr>
              <a:t>“</a:t>
            </a:r>
            <a:r>
              <a:rPr lang="zh-CN" altLang="en-US" sz="1600">
                <a:latin typeface="宋体" panose="02010600030101010101" pitchFamily="2" charset="-122"/>
                <a:ea typeface="宋体" panose="02010600030101010101" pitchFamily="2" charset="-122"/>
              </a:rPr>
              <a:t>发电厂出口处三相短路故障（</a:t>
            </a:r>
            <a:r>
              <a:rPr lang="en-US" altLang="zh-CN" sz="1600">
                <a:latin typeface="Times New Roman" panose="02020603050405020304"/>
                <a:ea typeface="宋体" panose="02010600030101010101" pitchFamily="2" charset="-122"/>
              </a:rPr>
              <a:t>N-1</a:t>
            </a:r>
            <a:r>
              <a:rPr lang="zh-CN" altLang="en-US" sz="1600">
                <a:latin typeface="宋体" panose="02010600030101010101" pitchFamily="2" charset="-122"/>
                <a:ea typeface="宋体" panose="02010600030101010101" pitchFamily="2" charset="-122"/>
              </a:rPr>
              <a:t>）</a:t>
            </a:r>
            <a:r>
              <a:rPr lang="zh-CN" altLang="en-US" sz="1600">
                <a:latin typeface="Times New Roman" panose="02020603050405020304"/>
                <a:ea typeface="宋体" panose="02010600030101010101" pitchFamily="2" charset="-122"/>
              </a:rPr>
              <a:t>”</a:t>
            </a:r>
            <a:r>
              <a:rPr lang="zh-CN" altLang="en-US" sz="1600">
                <a:latin typeface="宋体" panose="02010600030101010101" pitchFamily="2" charset="-122"/>
                <a:ea typeface="宋体" panose="02010600030101010101" pitchFamily="2" charset="-122"/>
              </a:rPr>
              <a:t>，提出以下几点改善稳定性对策。</a:t>
            </a:r>
            <a:endParaRPr lang="zh-CN" altLang="en-US" sz="1600">
              <a:latin typeface="宋体" panose="02010600030101010101" pitchFamily="2" charset="-122"/>
              <a:ea typeface="宋体" panose="02010600030101010101" pitchFamily="2" charset="-122"/>
            </a:endParaRPr>
          </a:p>
        </p:txBody>
      </p:sp>
      <p:pic>
        <p:nvPicPr>
          <p:cNvPr id="19" name="图片 16"/>
          <p:cNvPicPr>
            <a:picLocks noChangeAspect="1"/>
          </p:cNvPicPr>
          <p:nvPr>
            <p:custDataLst>
              <p:tags r:id="rId10"/>
            </p:custDataLst>
          </p:nvPr>
        </p:nvPicPr>
        <p:blipFill>
          <a:blip r:embed="rId11"/>
          <a:stretch>
            <a:fillRect/>
          </a:stretch>
        </p:blipFill>
        <p:spPr>
          <a:xfrm>
            <a:off x="0" y="2756535"/>
            <a:ext cx="3917950" cy="2191385"/>
          </a:xfrm>
          <a:prstGeom prst="rect">
            <a:avLst/>
          </a:prstGeom>
          <a:noFill/>
          <a:ln>
            <a:noFill/>
          </a:ln>
        </p:spPr>
      </p:pic>
      <p:pic>
        <p:nvPicPr>
          <p:cNvPr id="18" name="图片 15"/>
          <p:cNvPicPr>
            <a:picLocks noChangeAspect="1"/>
          </p:cNvPicPr>
          <p:nvPr/>
        </p:nvPicPr>
        <p:blipFill>
          <a:blip r:embed="rId12"/>
          <a:stretch>
            <a:fillRect/>
          </a:stretch>
        </p:blipFill>
        <p:spPr>
          <a:xfrm>
            <a:off x="0" y="4799330"/>
            <a:ext cx="3907790" cy="2185670"/>
          </a:xfrm>
          <a:prstGeom prst="rect">
            <a:avLst/>
          </a:prstGeom>
          <a:noFill/>
          <a:ln>
            <a:noFill/>
          </a:ln>
        </p:spPr>
      </p:pic>
      <p:grpSp>
        <p:nvGrpSpPr>
          <p:cNvPr id="8" name="组合 2"/>
          <p:cNvGrpSpPr/>
          <p:nvPr>
            <p:custDataLst>
              <p:tags r:id="rId13"/>
            </p:custDataLst>
          </p:nvPr>
        </p:nvGrpSpPr>
        <p:grpSpPr>
          <a:xfrm>
            <a:off x="4499049" y="3862239"/>
            <a:ext cx="3194050" cy="1666240"/>
            <a:chOff x="4188534" y="3187234"/>
            <a:chExt cx="3194050" cy="1666240"/>
          </a:xfrm>
        </p:grpSpPr>
        <p:sp>
          <p:nvSpPr>
            <p:cNvPr id="9" name="TextBox 5"/>
            <p:cNvSpPr txBox="1"/>
            <p:nvPr>
              <p:custDataLst>
                <p:tags r:id="rId14"/>
              </p:custDataLst>
            </p:nvPr>
          </p:nvSpPr>
          <p:spPr>
            <a:xfrm>
              <a:off x="4290134" y="3187234"/>
              <a:ext cx="2990850" cy="685800"/>
            </a:xfrm>
            <a:prstGeom prst="rect">
              <a:avLst/>
            </a:prstGeom>
          </p:spPr>
          <p:txBody>
            <a:bodyPr vert="horz" wrap="square" lIns="123825" tIns="123825" rIns="57150" bIns="123825" rtlCol="0" anchor="ctr" anchorCtr="0">
              <a:noAutofit/>
            </a:bodyPr>
            <a:lstStyle/>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稳控系统配置</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 name="TextBox 6"/>
            <p:cNvSpPr txBox="1"/>
            <p:nvPr>
              <p:custDataLst>
                <p:tags r:id="rId15"/>
              </p:custDataLst>
            </p:nvPr>
          </p:nvSpPr>
          <p:spPr>
            <a:xfrm>
              <a:off x="4188534" y="3947964"/>
              <a:ext cx="3194050" cy="905510"/>
            </a:xfrm>
            <a:prstGeom prst="rect">
              <a:avLst/>
            </a:prstGeom>
          </p:spPr>
          <p:txBody>
            <a:bodyPr vert="horz" wrap="square" lIns="123825" tIns="123825" rIns="57150" bIns="123825" rtlCol="0" anchor="t" anchorCtr="0">
              <a:noAutofit/>
            </a:bodyPr>
            <a:lstStyle/>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稳定控制策略。</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自动装置完善。</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p:txBody>
        </p:sp>
      </p:grpSp>
      <p:grpSp>
        <p:nvGrpSpPr>
          <p:cNvPr id="17" name="组合 2"/>
          <p:cNvGrpSpPr/>
          <p:nvPr>
            <p:custDataLst>
              <p:tags r:id="rId16"/>
            </p:custDataLst>
          </p:nvPr>
        </p:nvGrpSpPr>
        <p:grpSpPr>
          <a:xfrm>
            <a:off x="8254439" y="3862239"/>
            <a:ext cx="3194050" cy="1666240"/>
            <a:chOff x="4188534" y="3187234"/>
            <a:chExt cx="3194050" cy="1666240"/>
          </a:xfrm>
        </p:grpSpPr>
        <p:sp>
          <p:nvSpPr>
            <p:cNvPr id="20" name="TextBox 5"/>
            <p:cNvSpPr txBox="1"/>
            <p:nvPr>
              <p:custDataLst>
                <p:tags r:id="rId17"/>
              </p:custDataLst>
            </p:nvPr>
          </p:nvSpPr>
          <p:spPr>
            <a:xfrm>
              <a:off x="4290134" y="3187234"/>
              <a:ext cx="2990850" cy="685800"/>
            </a:xfrm>
            <a:prstGeom prst="rect">
              <a:avLst/>
            </a:prstGeom>
          </p:spPr>
          <p:txBody>
            <a:bodyPr vert="horz" wrap="square" lIns="123825" tIns="123825" rIns="57150" bIns="123825" rtlCol="0" anchor="ctr" anchorCtr="0">
              <a:noAutofit/>
            </a:bodyPr>
            <a:lstStyle/>
            <a:p>
              <a:pPr algn="ctr">
                <a:lnSpc>
                  <a:spcPct val="120000"/>
                </a:lnSpc>
              </a:pPr>
              <a:r>
                <a:rPr lang="zh-CN" altLang="en-US" sz="2600" b="1" dirty="0">
                  <a:solidFill>
                    <a:schemeClr val="tx2"/>
                  </a:solidFill>
                  <a:latin typeface="微软雅黑" panose="020B0503020204020204" charset="-122"/>
                  <a:ea typeface="微软雅黑" panose="020B0503020204020204" charset="-122"/>
                  <a:cs typeface="微软雅黑" panose="020B0503020204020204" charset="-122"/>
                </a:rPr>
                <a:t>一次系统加强</a:t>
              </a:r>
              <a:endParaRPr lang="zh-CN" altLang="en-US" sz="2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1" name="TextBox 6"/>
            <p:cNvSpPr txBox="1"/>
            <p:nvPr>
              <p:custDataLst>
                <p:tags r:id="rId18"/>
              </p:custDataLst>
            </p:nvPr>
          </p:nvSpPr>
          <p:spPr>
            <a:xfrm>
              <a:off x="4188534" y="3947964"/>
              <a:ext cx="3194050" cy="905510"/>
            </a:xfrm>
            <a:prstGeom prst="rect">
              <a:avLst/>
            </a:prstGeom>
          </p:spPr>
          <p:txBody>
            <a:bodyPr vert="horz" wrap="square" lIns="123825" tIns="123825" rIns="57150" bIns="123825" rtlCol="0" anchor="t" anchorCtr="0">
              <a:noAutofit/>
            </a:bodyPr>
            <a:lstStyle/>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线路改造加强。</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a:p>
              <a:pPr algn="ctr">
                <a:lnSpc>
                  <a:spcPct val="140000"/>
                </a:lnSpc>
              </a:pPr>
              <a:r>
                <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rPr>
                <a:t>网络结构完善。</a:t>
              </a:r>
              <a:endParaRPr lang="zh-CN" altLang="en-US" sz="1400" b="1" dirty="0">
                <a:solidFill>
                  <a:schemeClr val="dk1">
                    <a:alpha val="100000"/>
                  </a:schemeClr>
                </a:solidFill>
                <a:latin typeface="Times New Roman" panose="02020603050405020304" pitchFamily="18" charset="0"/>
                <a:ea typeface="微软雅黑" panose="020B0503020204020204" charset="-122"/>
                <a:cs typeface="Times New Roman" panose="02020603050405020304" pitchFamily="18" charset="0"/>
              </a:endParaRPr>
            </a:p>
          </p:txBody>
        </p:sp>
      </p:grpSp>
    </p:spTree>
  </p:cSld>
  <p:clrMapOvr>
    <a:masterClrMapping/>
  </p:clrMapOvr>
  <mc:AlternateContent xmlns:mc="http://schemas.openxmlformats.org/markup-compatibility/2006">
    <mc:Choice xmlns:p14="http://schemas.microsoft.com/office/powerpoint/2010/main" Requires="p14">
      <p:transition spd="med" p14:dur="600">
        <p14:prism/>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a:extLst>
              <a:ext uri="{28A0092B-C50C-407E-A947-70E740481C1C}">
                <a14:useLocalDpi xmlns:a14="http://schemas.microsoft.com/office/drawing/2010/main" val="0"/>
              </a:ext>
            </a:extLst>
          </a:blip>
          <a:srcRect t="6042" b="15884"/>
          <a:stretch>
            <a:fillRect/>
          </a:stretch>
        </p:blipFill>
        <p:spPr>
          <a:xfrm>
            <a:off x="0" y="0"/>
            <a:ext cx="12192000" cy="4618300"/>
          </a:xfrm>
          <a:prstGeom prst="rect">
            <a:avLst/>
          </a:prstGeom>
        </p:spPr>
      </p:pic>
      <p:sp>
        <p:nvSpPr>
          <p:cNvPr id="4" name="矩形 3"/>
          <p:cNvSpPr/>
          <p:nvPr/>
        </p:nvSpPr>
        <p:spPr>
          <a:xfrm>
            <a:off x="2627500" y="5467200"/>
            <a:ext cx="7452391" cy="91332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5335" b="1" spc="400" noProof="0" dirty="0" smtClean="0">
                <a:solidFill>
                  <a:schemeClr val="accent1"/>
                </a:solidFill>
                <a:latin typeface="方正小标宋简体" panose="03000509000000000000" pitchFamily="65" charset="-122"/>
                <a:ea typeface="方正小标宋简体" panose="03000509000000000000" pitchFamily="65" charset="-122"/>
                <a:cs typeface="UUS UN INCHIKE" panose="02020603070505020304" pitchFamily="18" charset="0"/>
                <a:sym typeface="+mn-lt"/>
              </a:rPr>
              <a:t>感谢聆听！</a:t>
            </a:r>
            <a:endParaRPr kumimoji="0" lang="zh-CN" altLang="en-US" sz="5335" b="1" i="0" u="none" strike="noStrike" kern="1200" cap="none" spc="400" normalizeH="0" baseline="0" noProof="0" dirty="0">
              <a:ln>
                <a:noFill/>
              </a:ln>
              <a:solidFill>
                <a:schemeClr val="accent1"/>
              </a:solidFill>
              <a:effectLst/>
              <a:uLnTx/>
              <a:uFillTx/>
              <a:latin typeface="方正小标宋简体" panose="03000509000000000000" pitchFamily="65" charset="-122"/>
              <a:ea typeface="方正小标宋简体" panose="03000509000000000000" pitchFamily="65" charset="-122"/>
              <a:cs typeface="UUS UN INCHIKE" panose="02020603070505020304" pitchFamily="18" charset="0"/>
              <a:sym typeface="+mn-lt"/>
            </a:endParaRPr>
          </a:p>
        </p:txBody>
      </p:sp>
      <p:sp>
        <p:nvSpPr>
          <p:cNvPr id="8" name="矩形 7"/>
          <p:cNvSpPr/>
          <p:nvPr/>
        </p:nvSpPr>
        <p:spPr>
          <a:xfrm>
            <a:off x="-635" y="0"/>
            <a:ext cx="12192000" cy="4618300"/>
          </a:xfrm>
          <a:prstGeom prst="rect">
            <a:avLst/>
          </a:prstGeom>
          <a:solidFill>
            <a:schemeClr val="accent1">
              <a:lumMod val="40000"/>
              <a:lumOff val="6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Calibri" panose="020F0502020204030204"/>
              <a:ea typeface="宋体" panose="02010600030101010101" pitchFamily="2" charset="-122"/>
              <a:cs typeface="+mn-cs"/>
            </a:endParaRPr>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1846" y="3812828"/>
            <a:ext cx="1467037" cy="146703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tags/tag1.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2.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3.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4.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5.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6.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7.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8.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9.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10.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11.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12.xml><?xml version="1.0" encoding="utf-8"?>
<p:tagLst xmlns:p="http://schemas.openxmlformats.org/presentationml/2006/main">
  <p:tag name="KSO_WM_DIAGRAM_VIRTUALLY_FRAME" val="{&quot;height&quot;:517.7976377952755,&quot;left&quot;:41.18629921259842,&quot;top&quot;:101.41566929133857,&quot;width&quot;:858.0670078740159}"/>
</p:tagLst>
</file>

<file path=ppt/tags/tag13.xml><?xml version="1.0" encoding="utf-8"?>
<p:tagLst xmlns:p="http://schemas.openxmlformats.org/presentationml/2006/main">
  <p:tag name="KSO_WM_DIAGRAM_VIRTUALLY_FRAME" val="{&quot;height&quot;:517.7976377952755,&quot;left&quot;:0,&quot;top&quot;:101.41566929133857,&quot;width&quot;:916.3033070866143}"/>
</p:tagLst>
</file>

<file path=ppt/tags/tag14.xml><?xml version="1.0" encoding="utf-8"?>
<p:tagLst xmlns:p="http://schemas.openxmlformats.org/presentationml/2006/main">
  <p:tag name="KSO_WM_DIAGRAM_VIRTUALLY_FRAME" val="{&quot;height&quot;:517.7976377952755,&quot;left&quot;:0,&quot;top&quot;:101.41566929133857,&quot;width&quot;:916.3033070866143}"/>
</p:tagLst>
</file>

<file path=ppt/tags/tag15.xml><?xml version="1.0" encoding="utf-8"?>
<p:tagLst xmlns:p="http://schemas.openxmlformats.org/presentationml/2006/main">
  <p:tag name="KSO_WM_DIAGRAM_VIRTUALLY_FRAME" val="{&quot;height&quot;:517.7976377952755,&quot;left&quot;:0,&quot;top&quot;:101.41566929133857,&quot;width&quot;:916.3033070866143}"/>
</p:tagLst>
</file>

<file path=ppt/tags/tag16.xml><?xml version="1.0" encoding="utf-8"?>
<p:tagLst xmlns:p="http://schemas.openxmlformats.org/presentationml/2006/main">
  <p:tag name="KSO_WM_DIAGRAM_VIRTUALLY_FRAME" val="{&quot;height&quot;:517.7976377952755,&quot;left&quot;:0,&quot;top&quot;:101.41566929133857,&quot;width&quot;:916.3033070866143}"/>
</p:tagLst>
</file>

<file path=ppt/tags/tag17.xml><?xml version="1.0" encoding="utf-8"?>
<p:tagLst xmlns:p="http://schemas.openxmlformats.org/presentationml/2006/main">
  <p:tag name="KSO_WM_DIAGRAM_VIRTUALLY_FRAME" val="{&quot;height&quot;:517.7976377952755,&quot;left&quot;:0,&quot;top&quot;:101.41566929133857,&quot;width&quot;:916.3033070866143}"/>
</p:tagLst>
</file>

<file path=ppt/tags/tag18.xml><?xml version="1.0" encoding="utf-8"?>
<p:tagLst xmlns:p="http://schemas.openxmlformats.org/presentationml/2006/main">
  <p:tag name="KSO_WM_DIAGRAM_VIRTUALLY_FRAME" val="{&quot;height&quot;:517.7976377952755,&quot;left&quot;:0,&quot;top&quot;:101.41566929133857,&quot;width&quot;:916.3033070866143}"/>
</p:tagLst>
</file>

<file path=ppt/tags/tag19.xml><?xml version="1.0" encoding="utf-8"?>
<p:tagLst xmlns:p="http://schemas.openxmlformats.org/presentationml/2006/main">
  <p:tag name="KSO_WM_DIAGRAM_VIRTUALLY_FRAME" val="{&quot;height&quot;:517.7976377952755,&quot;left&quot;:0,&quot;top&quot;:101.41566929133857,&quot;width&quot;:916.3033070866143}"/>
</p:tagLst>
</file>

<file path=ppt/tags/tag20.xml><?xml version="1.0" encoding="utf-8"?>
<p:tagLst xmlns:p="http://schemas.openxmlformats.org/presentationml/2006/main">
  <p:tag name="KSO_WM_DIAGRAM_VIRTUALLY_FRAME" val="{&quot;height&quot;:517.7976377952755,&quot;left&quot;:0,&quot;top&quot;:101.41566929133857,&quot;width&quot;:916.3033070866143}"/>
</p:tagLst>
</file>

<file path=ppt/tags/tag21.xml><?xml version="1.0" encoding="utf-8"?>
<p:tagLst xmlns:p="http://schemas.openxmlformats.org/presentationml/2006/main">
  <p:tag name="KSO_WM_DIAGRAM_VIRTUALLY_FRAME" val="{&quot;height&quot;:517.7976377952755,&quot;left&quot;:0,&quot;top&quot;:101.41566929133857,&quot;width&quot;:916.3033070866143}"/>
</p:tagLst>
</file>

<file path=ppt/tags/tag22.xml><?xml version="1.0" encoding="utf-8"?>
<p:tagLst xmlns:p="http://schemas.openxmlformats.org/presentationml/2006/main">
  <p:tag name="KSO_WM_DIAGRAM_VIRTUALLY_FRAME" val="{&quot;height&quot;:517.7976377952755,&quot;left&quot;:0,&quot;top&quot;:101.41566929133857,&quot;width&quot;:916.3033070866143}"/>
</p:tagLst>
</file>

<file path=ppt/tags/tag23.xml><?xml version="1.0" encoding="utf-8"?>
<p:tagLst xmlns:p="http://schemas.openxmlformats.org/presentationml/2006/main">
  <p:tag name="KSO_WM_DIAGRAM_VIRTUALLY_FRAME" val="{&quot;height&quot;:517.7976377952755,&quot;left&quot;:0,&quot;top&quot;:101.41566929133857,&quot;width&quot;:916.3033070866143}"/>
</p:tagLst>
</file>

<file path=ppt/tags/tag24.xml><?xml version="1.0" encoding="utf-8"?>
<p:tagLst xmlns:p="http://schemas.openxmlformats.org/presentationml/2006/main">
  <p:tag name="KSO_WM_DIAGRAM_VIRTUALLY_FRAME" val="{&quot;height&quot;:517.7976377952755,&quot;left&quot;:0,&quot;top&quot;:101.41566929133857,&quot;width&quot;:916.3033070866143}"/>
</p:tagLst>
</file>

<file path=ppt/tags/tag25.xml><?xml version="1.0" encoding="utf-8"?>
<p:tagLst xmlns:p="http://schemas.openxmlformats.org/presentationml/2006/main">
  <p:tag name="KSO_WM_DIAGRAM_VIRTUALLY_FRAME" val="{&quot;height&quot;:517.7976377952755,&quot;left&quot;:0,&quot;top&quot;:101.41566929133857,&quot;width&quot;:916.3033070866143}"/>
</p:tagLst>
</file>

<file path=ppt/tags/tag26.xml><?xml version="1.0" encoding="utf-8"?>
<p:tagLst xmlns:p="http://schemas.openxmlformats.org/presentationml/2006/main">
  <p:tag name="KSO_WM_DIAGRAM_VIRTUALLY_FRAME" val="{&quot;height&quot;:517.7976377952755,&quot;left&quot;:0,&quot;top&quot;:101.41566929133857,&quot;width&quot;:916.3033070866143}"/>
</p:tagLst>
</file>

<file path=ppt/tags/tag27.xml><?xml version="1.0" encoding="utf-8"?>
<p:tagLst xmlns:p="http://schemas.openxmlformats.org/presentationml/2006/main">
  <p:tag name="KSO_WM_DIAGRAM_VIRTUALLY_FRAME" val="{&quot;height&quot;:517.7976377952755,&quot;left&quot;:0,&quot;top&quot;:101.41566929133857,&quot;width&quot;:916.3033070866143}"/>
</p:tagLst>
</file>

<file path=ppt/tags/tag28.xml><?xml version="1.0" encoding="utf-8"?>
<p:tagLst xmlns:p="http://schemas.openxmlformats.org/presentationml/2006/main">
  <p:tag name="KSO_WM_DIAGRAM_VIRTUALLY_FRAME" val="{&quot;height&quot;:517.7976377952755,&quot;left&quot;:0,&quot;top&quot;:101.41566929133857,&quot;width&quot;:916.303307086614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charset="-122"/>
            <a:ea typeface="微软雅黑" panose="020B050302020402020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charset="-122"/>
            <a:ea typeface="微软雅黑" panose="020B050302020402020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3536</Words>
  <Application>WPS 演示</Application>
  <PresentationFormat>宽屏</PresentationFormat>
  <Paragraphs>186</Paragraphs>
  <Slides>21</Slides>
  <Notes>24</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21</vt:i4>
      </vt:variant>
    </vt:vector>
  </HeadingPairs>
  <TitlesOfParts>
    <vt:vector size="36" baseType="lpstr">
      <vt:lpstr>Arial</vt:lpstr>
      <vt:lpstr>宋体</vt:lpstr>
      <vt:lpstr>Wingdings</vt:lpstr>
      <vt:lpstr>微软雅黑</vt:lpstr>
      <vt:lpstr>Calibri</vt:lpstr>
      <vt:lpstr>Times New Roman</vt:lpstr>
      <vt:lpstr>方正小标宋简体</vt:lpstr>
      <vt:lpstr>Arial Unicode MS</vt:lpstr>
      <vt:lpstr>等线</vt:lpstr>
      <vt:lpstr>Times New Roman</vt:lpstr>
      <vt:lpstr>UUS UN INCHIKE</vt:lpstr>
      <vt:lpstr>Segoe Print</vt:lpstr>
      <vt:lpstr>Office 主题​​</vt:lpstr>
      <vt:lpstr>1_Office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来自UFO的小林</cp:lastModifiedBy>
  <cp:revision>128</cp:revision>
  <dcterms:created xsi:type="dcterms:W3CDTF">2025-03-13T00:53:00Z</dcterms:created>
  <dcterms:modified xsi:type="dcterms:W3CDTF">2025-10-27T06:48:33Z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06D9090D7905479DB6785A16EB9CCFFD_13</vt:lpwstr>
  </property>
  <property fmtid="{D5CDD505-2E9C-101B-9397-08002B2CF9AE}" pid="3" name="KSOProductBuildVer">
    <vt:lpwstr>2052-12.1.0.23125</vt:lpwstr>
  </property>
</Properties>
</file>